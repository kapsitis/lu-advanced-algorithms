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2"/>
  </p:notesMasterIdLst>
  <p:handoutMasterIdLst>
    <p:handoutMasterId r:id="rId63"/>
  </p:handoutMasterIdLst>
  <p:sldIdLst>
    <p:sldId id="430" r:id="rId2"/>
    <p:sldId id="433" r:id="rId3"/>
    <p:sldId id="435" r:id="rId4"/>
    <p:sldId id="436" r:id="rId5"/>
    <p:sldId id="437" r:id="rId6"/>
    <p:sldId id="509" r:id="rId7"/>
    <p:sldId id="510" r:id="rId8"/>
    <p:sldId id="511" r:id="rId9"/>
    <p:sldId id="520" r:id="rId10"/>
    <p:sldId id="521" r:id="rId11"/>
    <p:sldId id="438" r:id="rId12"/>
    <p:sldId id="442" r:id="rId13"/>
    <p:sldId id="443" r:id="rId14"/>
    <p:sldId id="444" r:id="rId15"/>
    <p:sldId id="447" r:id="rId16"/>
    <p:sldId id="533" r:id="rId17"/>
    <p:sldId id="534" r:id="rId18"/>
    <p:sldId id="449" r:id="rId19"/>
    <p:sldId id="535" r:id="rId20"/>
    <p:sldId id="536" r:id="rId21"/>
    <p:sldId id="454" r:id="rId22"/>
    <p:sldId id="456" r:id="rId23"/>
    <p:sldId id="522" r:id="rId24"/>
    <p:sldId id="544" r:id="rId25"/>
    <p:sldId id="545" r:id="rId26"/>
    <p:sldId id="523" r:id="rId27"/>
    <p:sldId id="524" r:id="rId28"/>
    <p:sldId id="525" r:id="rId29"/>
    <p:sldId id="526" r:id="rId30"/>
    <p:sldId id="468" r:id="rId31"/>
    <p:sldId id="469" r:id="rId32"/>
    <p:sldId id="471" r:id="rId33"/>
    <p:sldId id="512" r:id="rId34"/>
    <p:sldId id="513" r:id="rId35"/>
    <p:sldId id="514" r:id="rId36"/>
    <p:sldId id="515" r:id="rId37"/>
    <p:sldId id="516" r:id="rId38"/>
    <p:sldId id="518" r:id="rId39"/>
    <p:sldId id="537" r:id="rId40"/>
    <p:sldId id="538" r:id="rId41"/>
    <p:sldId id="539" r:id="rId42"/>
    <p:sldId id="540" r:id="rId43"/>
    <p:sldId id="541" r:id="rId44"/>
    <p:sldId id="542" r:id="rId45"/>
    <p:sldId id="543" r:id="rId46"/>
    <p:sldId id="528" r:id="rId47"/>
    <p:sldId id="529" r:id="rId48"/>
    <p:sldId id="530" r:id="rId49"/>
    <p:sldId id="531" r:id="rId50"/>
    <p:sldId id="532" r:id="rId51"/>
    <p:sldId id="491" r:id="rId52"/>
    <p:sldId id="492" r:id="rId53"/>
    <p:sldId id="493" r:id="rId54"/>
    <p:sldId id="494" r:id="rId55"/>
    <p:sldId id="495" r:id="rId56"/>
    <p:sldId id="496" r:id="rId57"/>
    <p:sldId id="497" r:id="rId58"/>
    <p:sldId id="498" r:id="rId59"/>
    <p:sldId id="507" r:id="rId60"/>
    <p:sldId id="508" r:id="rId6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8E61DC0-3230-44E0-A73F-E2E92434A68D}">
          <p14:sldIdLst>
            <p14:sldId id="430"/>
            <p14:sldId id="433"/>
          </p14:sldIdLst>
        </p14:section>
        <p14:section name="Peak Finding Problem" id="{E6A7EE00-C004-4668-8BF9-0810FFA87661}">
          <p14:sldIdLst>
            <p14:sldId id="435"/>
            <p14:sldId id="436"/>
            <p14:sldId id="437"/>
            <p14:sldId id="509"/>
            <p14:sldId id="510"/>
            <p14:sldId id="511"/>
          </p14:sldIdLst>
        </p14:section>
        <p14:section name="Big-O Notation" id="{4825FA21-9B55-4BCB-8EB7-AB641755D7A9}">
          <p14:sldIdLst>
            <p14:sldId id="520"/>
            <p14:sldId id="521"/>
            <p14:sldId id="438"/>
            <p14:sldId id="442"/>
            <p14:sldId id="443"/>
            <p14:sldId id="444"/>
            <p14:sldId id="447"/>
          </p14:sldIdLst>
        </p14:section>
        <p14:section name="Omega and Theta Notations" id="{78A15B55-9560-4B8F-8A28-A54F15B278B4}">
          <p14:sldIdLst>
            <p14:sldId id="533"/>
            <p14:sldId id="534"/>
            <p14:sldId id="449"/>
            <p14:sldId id="535"/>
            <p14:sldId id="536"/>
            <p14:sldId id="454"/>
            <p14:sldId id="456"/>
            <p14:sldId id="522"/>
          </p14:sldIdLst>
        </p14:section>
        <p14:section name="Runtime for actual algorithms" id="{11F384A6-8633-4CE3-8370-3C08A71B6A3C}">
          <p14:sldIdLst>
            <p14:sldId id="544"/>
            <p14:sldId id="545"/>
            <p14:sldId id="523"/>
            <p14:sldId id="524"/>
            <p14:sldId id="525"/>
            <p14:sldId id="526"/>
          </p14:sldIdLst>
        </p14:section>
        <p14:section name="Time Complexity Classes" id="{5FC4B19C-2542-4A2F-A084-BCD601753ED9}">
          <p14:sldIdLst>
            <p14:sldId id="468"/>
            <p14:sldId id="469"/>
            <p14:sldId id="471"/>
            <p14:sldId id="512"/>
            <p14:sldId id="513"/>
            <p14:sldId id="514"/>
            <p14:sldId id="515"/>
            <p14:sldId id="516"/>
            <p14:sldId id="518"/>
          </p14:sldIdLst>
        </p14:section>
        <p14:section name="Analyzing Pseudocode" id="{34959D65-E350-476A-B684-5ADF97891199}">
          <p14:sldIdLst>
            <p14:sldId id="537"/>
            <p14:sldId id="538"/>
            <p14:sldId id="539"/>
            <p14:sldId id="540"/>
            <p14:sldId id="541"/>
            <p14:sldId id="542"/>
            <p14:sldId id="543"/>
            <p14:sldId id="528"/>
            <p14:sldId id="529"/>
            <p14:sldId id="530"/>
            <p14:sldId id="531"/>
            <p14:sldId id="532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507"/>
            <p14:sldId id="5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0033CC"/>
    <a:srgbClr val="CC0099"/>
    <a:srgbClr val="FF3300"/>
    <a:srgbClr val="FFC0C0"/>
    <a:srgbClr val="43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30" autoAdjust="0"/>
    <p:restoredTop sz="83411" autoAdjust="0"/>
  </p:normalViewPr>
  <p:slideViewPr>
    <p:cSldViewPr>
      <p:cViewPr varScale="1">
        <p:scale>
          <a:sx n="96" d="100"/>
          <a:sy n="96" d="100"/>
        </p:scale>
        <p:origin x="52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0855F9-0CBE-4B9F-9F38-AFF7FF199BAC}" type="slidenum">
              <a:rPr lang="lv-LV" altLang="lv-LV"/>
              <a:pPr>
                <a:defRPr/>
              </a:pPr>
              <a:t>‹#›</a:t>
            </a:fld>
            <a:endParaRPr lang="lv-LV" altLang="lv-LV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noProof="0" dirty="0" smtClean="0"/>
              <a:t>Click to edit Master text styles</a:t>
            </a:r>
          </a:p>
          <a:p>
            <a:pPr lvl="1"/>
            <a:r>
              <a:rPr lang="lv-LV" noProof="0" dirty="0" smtClean="0"/>
              <a:t>Second level</a:t>
            </a:r>
          </a:p>
          <a:p>
            <a:pPr lvl="2"/>
            <a:r>
              <a:rPr lang="lv-LV" noProof="0" dirty="0" smtClean="0"/>
              <a:t>Third level</a:t>
            </a:r>
          </a:p>
          <a:p>
            <a:pPr lvl="3"/>
            <a:r>
              <a:rPr lang="lv-LV" noProof="0" dirty="0" smtClean="0"/>
              <a:t>Fourth level</a:t>
            </a:r>
          </a:p>
          <a:p>
            <a:pPr lvl="4"/>
            <a:r>
              <a:rPr lang="lv-LV" noProof="0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gocheatsheet.com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F658C33-3209-4B07-B585-DF2F1E9E30F2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4276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Big-O provides a formal method for expressing </a:t>
            </a:r>
            <a:r>
              <a:rPr lang="en-US" b="1" i="1" dirty="0" smtClean="0">
                <a:latin typeface="Calibri" pitchFamily="34" charset="0"/>
                <a:cs typeface="Calibri" pitchFamily="34" charset="0"/>
              </a:rPr>
              <a:t>asymptotic upper bounds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bounding the growth of a function from above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Knowing where a function lies within the big-O hierarchy lets us compare it quickly with other functions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Thus we have an idea of which algorithm has the best time performance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62028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Big-O only gives us the upper bound of a function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So if we ignore constant factors and let 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get big enough, some function will never be bigger than some other function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This can give us too much freedom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Consider that selection sort is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), since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is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 -  but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 is a more meaningful upper bound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We need a </a:t>
            </a:r>
            <a:r>
              <a:rPr lang="en-US" b="1" i="1" dirty="0" smtClean="0">
                <a:latin typeface="Calibri" pitchFamily="34" charset="0"/>
                <a:cs typeface="Calibri" pitchFamily="34" charset="0"/>
              </a:rPr>
              <a:t>lower bound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a function that always grows more slowly than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), and a </a:t>
            </a:r>
            <a:r>
              <a:rPr lang="en-US" b="1" i="1" dirty="0" smtClean="0">
                <a:latin typeface="Calibri" pitchFamily="34" charset="0"/>
                <a:cs typeface="Calibri" pitchFamily="34" charset="0"/>
              </a:rPr>
              <a:t>tight bound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a function that grows at about the same rate as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278531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lv-LV" b="1" dirty="0" smtClean="0"/>
              <a:t>Exercises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lv-LV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lv-LV" dirty="0" smtClean="0"/>
              <a:t>Algorithm reduces problem size by 1 at every iteration. </a:t>
            </a:r>
            <a:r>
              <a:rPr lang="en-US" baseline="0" dirty="0" smtClean="0"/>
              <a:t> </a:t>
            </a:r>
            <a:r>
              <a:rPr lang="lv-LV" dirty="0" smtClean="0"/>
              <a:t>The costs of iterations change from n to 1 (or 1 to n).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Given a recurrence, identify what is the Big-O notation for it.</a:t>
            </a:r>
            <a:endParaRPr lang="lv-LV" dirty="0" smtClean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974729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135786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99656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105314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3345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lv-LV" dirty="0" smtClean="0"/>
                  <a:t>If the input length increases twice, the run-time increases by 17. </a:t>
                </a:r>
                <a:r>
                  <a:rPr lang="lv-LV" dirty="0"/>
                  <a:t/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lv-LV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lv-LV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two times. </a:t>
                </a:r>
                <a:br>
                  <a:rPr lang="lv-LV" dirty="0"/>
                </a:br>
                <a:r>
                  <a:rPr lang="lv-LV" dirty="0"/>
                  <a:t>Can take </a:t>
                </a:r>
                <a14:m>
                  <m:oMath xmlns:m="http://schemas.openxmlformats.org/officeDocument/2006/math"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four times.</a:t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three times.</a:t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lv-LV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lv-LV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lv-LV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lv-LV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increases twice, the run-time is squared. </a:t>
                </a:r>
                <a:br>
                  <a:rPr lang="lv-LV" dirty="0"/>
                </a:br>
                <a:r>
                  <a:rPr lang="lv-LV" dirty="0"/>
                  <a:t>Can take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lv-LV" dirty="0" smtClean="0"/>
                  <a:t>If the input length increases twice, the run-time increases by 17. </a:t>
                </a:r>
                <a:r>
                  <a:rPr lang="lv-LV" dirty="0"/>
                  <a:t/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𝑂(</a:t>
                </a:r>
                <a:r>
                  <a:rPr lang="lv-LV" i="0" dirty="0" smtClean="0">
                    <a:latin typeface="Cambria Math" panose="02040503050406030204" pitchFamily="18" charset="0"/>
                  </a:rPr>
                  <a:t>log_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2⁡𝑛)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two times. </a:t>
                </a:r>
                <a:br>
                  <a:rPr lang="lv-LV" dirty="0"/>
                </a:br>
                <a:r>
                  <a:rPr lang="lv-LV" dirty="0"/>
                  <a:t>Can take 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𝑂(</a:t>
                </a:r>
                <a:r>
                  <a:rPr lang="lv-LV" i="0" dirty="0">
                    <a:latin typeface="Cambria Math" panose="02040503050406030204" pitchFamily="18" charset="0"/>
                  </a:rPr>
                  <a:t>𝑛)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four times.</a:t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:r>
                  <a:rPr lang="lv-LV" i="0" dirty="0">
                    <a:latin typeface="Cambria Math" panose="02040503050406030204" pitchFamily="18" charset="0"/>
                  </a:rPr>
                  <a:t>𝑂(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𝑛^2</a:t>
                </a:r>
                <a:r>
                  <a:rPr lang="lv-LV" i="0" dirty="0">
                    <a:latin typeface="Cambria Math" panose="02040503050406030204" pitchFamily="18" charset="0"/>
                  </a:rPr>
                  <a:t>)</a:t>
                </a:r>
                <a:r>
                  <a:rPr lang="lv-LV" dirty="0" smtClean="0"/>
                  <a:t> 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three times.</a:t>
                </a:r>
                <a:br>
                  <a:rPr lang="lv-LV" dirty="0"/>
                </a:br>
                <a:r>
                  <a:rPr lang="lv-LV" dirty="0" smtClean="0"/>
                  <a:t>Can take </a:t>
                </a:r>
                <a:r>
                  <a:rPr lang="lv-LV" i="0" dirty="0">
                    <a:latin typeface="Cambria Math" panose="02040503050406030204" pitchFamily="18" charset="0"/>
                  </a:rPr>
                  <a:t>𝑂(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𝑛^</a:t>
                </a:r>
                <a:r>
                  <a:rPr lang="lv-LV" i="0" dirty="0" smtClean="0">
                    <a:latin typeface="Cambria Math" panose="02040503050406030204" pitchFamily="18" charset="0"/>
                  </a:rPr>
                  <a:t>log_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2⁡3 </a:t>
                </a:r>
                <a:r>
                  <a:rPr lang="lv-LV" i="0" dirty="0">
                    <a:latin typeface="Cambria Math" panose="02040503050406030204" pitchFamily="18" charset="0"/>
                  </a:rPr>
                  <a:t>)</a:t>
                </a:r>
                <a:r>
                  <a:rPr lang="lv-LV" dirty="0" smtClean="0"/>
                  <a:t> </a:t>
                </a:r>
                <a:endParaRPr lang="lv-LV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increases twice, the run-time is squared. </a:t>
                </a:r>
                <a:br>
                  <a:rPr lang="lv-LV" dirty="0"/>
                </a:br>
                <a:r>
                  <a:rPr lang="lv-LV" dirty="0"/>
                  <a:t>Can take </a:t>
                </a:r>
                <a:r>
                  <a:rPr lang="lv-LV" i="0" dirty="0">
                    <a:latin typeface="Cambria Math" panose="02040503050406030204" pitchFamily="18" charset="0"/>
                  </a:rPr>
                  <a:t>𝑂(</a:t>
                </a:r>
                <a:r>
                  <a:rPr lang="lv-LV" b="0" i="0" dirty="0" smtClean="0">
                    <a:latin typeface="Cambria Math" panose="02040503050406030204" pitchFamily="18" charset="0"/>
                  </a:rPr>
                  <a:t>2^𝑛</a:t>
                </a:r>
                <a:r>
                  <a:rPr lang="lv-LV" i="0" dirty="0">
                    <a:latin typeface="Cambria Math" panose="02040503050406030204" pitchFamily="18" charset="0"/>
                  </a:rPr>
                  <a:t>)</a:t>
                </a:r>
                <a:endParaRPr lang="lv-LV" dirty="0"/>
              </a:p>
              <a:p>
                <a:endParaRPr lang="lv-LV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69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sz="1200" dirty="0" smtClean="0">
                <a:hlinkClick r:id="rId3"/>
              </a:rPr>
              <a:t>https://www.bigocheatsheet.com/</a:t>
            </a:r>
            <a:r>
              <a:rPr lang="en-US" sz="1200" dirty="0" smtClean="0"/>
              <a:t> </a:t>
            </a:r>
            <a:endParaRPr lang="lv-LV" sz="1200" dirty="0" smtClean="0"/>
          </a:p>
          <a:p>
            <a:r>
              <a:rPr lang="en-US" dirty="0" smtClean="0"/>
              <a:t>For polynomial time algorithms (vast majority of practical algorithms) the encoding (decimal/binary) does not affect the time complexity. </a:t>
            </a:r>
          </a:p>
          <a:p>
            <a:r>
              <a:rPr lang="en-US" dirty="0" smtClean="0"/>
              <a:t>For logarithmic time algorithm (something very fast – does not even read all the input), converting from binary to decimal "dominates" the time (it is O(n)).</a:t>
            </a:r>
          </a:p>
          <a:p>
            <a:r>
              <a:rPr lang="en-US" dirty="0" smtClean="0"/>
              <a:t>For exponential time algorithms (something very slow) multiplying or dividing argument </a:t>
            </a:r>
            <a:r>
              <a:rPr lang="en-US" i="1" dirty="0" smtClean="0"/>
              <a:t>n</a:t>
            </a:r>
            <a:r>
              <a:rPr lang="en-US" dirty="0" smtClean="0"/>
              <a:t> by some factor changes the O(f(n)).</a:t>
            </a:r>
            <a:endParaRPr lang="lv-LV" dirty="0" smtClean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066978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99082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373316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dirty="0" smtClean="0"/>
              <a:t>https://medium.com/better-programming/big-o-notation-a-simple-explanation-with-examples-a56347d1daca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642303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722687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704850" y="238124"/>
            <a:ext cx="11155680" cy="649224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n-GB" altLang="lv-LV" sz="2400" smtClean="0"/>
          </a:p>
        </p:txBody>
      </p:sp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95867" y="4130675"/>
            <a:ext cx="1388533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n-GB" altLang="lv-LV" sz="2400" smtClean="0"/>
          </a:p>
        </p:txBody>
      </p:sp>
      <p:sp>
        <p:nvSpPr>
          <p:cNvPr id="24582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219200" y="2057400"/>
            <a:ext cx="10295467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lv-LV" noProof="0" smtClean="0"/>
              <a:t>Click to edit Master title style</a:t>
            </a:r>
          </a:p>
        </p:txBody>
      </p:sp>
      <p:sp>
        <p:nvSpPr>
          <p:cNvPr id="24583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2167467" y="3886200"/>
            <a:ext cx="85344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lv-LV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7051907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lv-LV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8A880-CACF-485E-BD72-99D70B084D56}" type="slidenum">
              <a:rPr lang="lv-LV" altLang="lv-LV"/>
              <a:pPr>
                <a:defRPr/>
              </a:pPr>
              <a:t>‹#›</a:t>
            </a:fld>
            <a:endParaRPr lang="lv-LV" altLang="lv-LV"/>
          </a:p>
        </p:txBody>
      </p:sp>
    </p:spTree>
    <p:extLst>
      <p:ext uri="{BB962C8B-B14F-4D97-AF65-F5344CB8AC3E}">
        <p14:creationId xmlns:p14="http://schemas.microsoft.com/office/powerpoint/2010/main" val="19235585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752600"/>
            <a:ext cx="4978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752600"/>
            <a:ext cx="4978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lv-LV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75751" y="6107113"/>
            <a:ext cx="2540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8A880-CACF-485E-BD72-99D70B084D56}" type="slidenum">
              <a:rPr lang="lv-LV" altLang="lv-LV"/>
              <a:pPr>
                <a:defRPr/>
              </a:pPr>
              <a:t>‹#›</a:t>
            </a:fld>
            <a:endParaRPr lang="lv-LV" altLang="lv-LV"/>
          </a:p>
        </p:txBody>
      </p:sp>
    </p:spTree>
    <p:extLst>
      <p:ext uri="{BB962C8B-B14F-4D97-AF65-F5344CB8AC3E}">
        <p14:creationId xmlns:p14="http://schemas.microsoft.com/office/powerpoint/2010/main" val="68294001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lv-LV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1352551" y="610711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4603751" y="610711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v-LV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BE0B6-61B7-4A16-86F5-324726A4A122}" type="slidenum">
              <a:rPr lang="lv-LV" altLang="lv-LV"/>
              <a:pPr>
                <a:defRPr/>
              </a:pPr>
              <a:t>‹#›</a:t>
            </a:fld>
            <a:endParaRPr lang="lv-LV" altLang="lv-LV"/>
          </a:p>
        </p:txBody>
      </p:sp>
    </p:spTree>
    <p:extLst>
      <p:ext uri="{BB962C8B-B14F-4D97-AF65-F5344CB8AC3E}">
        <p14:creationId xmlns:p14="http://schemas.microsoft.com/office/powerpoint/2010/main" val="31028963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533400" y="609600"/>
            <a:ext cx="5943600" cy="1981200"/>
          </a:xfrm>
          <a:prstGeom prst="rect">
            <a:avLst/>
          </a:prstGeom>
          <a:solidFill>
            <a:srgbClr val="43B02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27432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762000" y="2286000"/>
            <a:ext cx="7696200" cy="4038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548640" tIns="182880" rIns="182880" bIns="18288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90600" y="2322786"/>
            <a:ext cx="6248400" cy="3352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762000" y="685800"/>
            <a:ext cx="5181600" cy="1524000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484393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406259"/>
            <a:ext cx="10701867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87867" y="948267"/>
            <a:ext cx="11448288" cy="44704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422400" y="5102423"/>
            <a:ext cx="926592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</p:spTree>
    <p:extLst>
      <p:ext uri="{BB962C8B-B14F-4D97-AF65-F5344CB8AC3E}">
        <p14:creationId xmlns:p14="http://schemas.microsoft.com/office/powerpoint/2010/main" val="48297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406259"/>
            <a:ext cx="10701867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87867" y="948267"/>
            <a:ext cx="11448288" cy="4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6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834" y="1538819"/>
            <a:ext cx="4897967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16000" y="406259"/>
            <a:ext cx="10701867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87867" y="948267"/>
            <a:ext cx="11448288" cy="4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7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975782" y="289560"/>
            <a:ext cx="11063817" cy="6492240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kumimoji="1" lang="en-GB" altLang="lv-LV" sz="2400" smtClean="0"/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354667" y="1600200"/>
            <a:ext cx="10227733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lv-LV" sz="24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81000"/>
            <a:ext cx="10160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lv-LV" smtClean="0"/>
              <a:t>Click to edit Master title style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752601"/>
            <a:ext cx="10160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v-LV" altLang="lv-LV" dirty="0" smtClean="0"/>
              <a:t>Click to edit Master text styles</a:t>
            </a:r>
          </a:p>
          <a:p>
            <a:pPr lvl="1"/>
            <a:r>
              <a:rPr lang="lv-LV" altLang="lv-LV" dirty="0" smtClean="0"/>
              <a:t>Second level</a:t>
            </a:r>
          </a:p>
          <a:p>
            <a:pPr lvl="2"/>
            <a:r>
              <a:rPr lang="lv-LV" altLang="lv-LV" dirty="0" smtClean="0"/>
              <a:t>Third level</a:t>
            </a:r>
          </a:p>
          <a:p>
            <a:pPr lvl="3"/>
            <a:r>
              <a:rPr lang="lv-LV" altLang="lv-LV" dirty="0" smtClean="0"/>
              <a:t>Fourth level</a:t>
            </a:r>
          </a:p>
          <a:p>
            <a:pPr lvl="4"/>
            <a:r>
              <a:rPr lang="lv-LV" altLang="lv-LV" dirty="0" smtClean="0"/>
              <a:t>Fifth level</a:t>
            </a:r>
          </a:p>
        </p:txBody>
      </p:sp>
      <p:sp>
        <p:nvSpPr>
          <p:cNvPr id="235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5751" y="6107113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4909E86-374F-46F0-8605-6733D6B01229}" type="slidenum">
              <a:rPr lang="lv-LV" altLang="lv-LV"/>
              <a:pPr>
                <a:defRPr/>
              </a:pPr>
              <a:t>‹#›</a:t>
            </a:fld>
            <a:endParaRPr lang="lv-LV" altLang="lv-LV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89" r:id="rId2"/>
    <p:sldLayoutId id="2147483690" r:id="rId3"/>
    <p:sldLayoutId id="2147483692" r:id="rId4"/>
    <p:sldLayoutId id="2147483693" r:id="rId5"/>
    <p:sldLayoutId id="2147483699" r:id="rId6"/>
    <p:sldLayoutId id="2147483700" r:id="rId7"/>
    <p:sldLayoutId id="2147483701" r:id="rId8"/>
  </p:sldLayoutIdLst>
  <p:transition spd="slow"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0.png"/><Relationship Id="rId4" Type="http://schemas.openxmlformats.org/officeDocument/2006/relationships/image" Target="../media/image4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 smtClean="0"/>
              <a:t>Week0</a:t>
            </a:r>
            <a:r>
              <a:rPr lang="en-US" dirty="0" smtClean="0"/>
              <a:t>1</a:t>
            </a:r>
            <a:r>
              <a:rPr lang="lv-LV" dirty="0" smtClean="0"/>
              <a:t/>
            </a:r>
            <a:br>
              <a:rPr lang="lv-LV" dirty="0" smtClean="0"/>
            </a:br>
            <a:r>
              <a:rPr lang="lv-LV" dirty="0" smtClean="0"/>
              <a:t>Time Complexity of Algorithms</a:t>
            </a:r>
            <a:endParaRPr lang="lv-LV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5409783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Calibri" pitchFamily="34" charset="0"/>
                <a:cs typeface="Calibri" pitchFamily="34" charset="0"/>
              </a:rPr>
              <a:t>Objectives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Looking ahead – in this chapter, we’ll consider:</a:t>
            </a:r>
          </a:p>
          <a:p>
            <a:r>
              <a:rPr lang="lv-LV" dirty="0" smtClean="0">
                <a:latin typeface="Calibri" pitchFamily="34" charset="0"/>
                <a:cs typeface="Calibri" pitchFamily="34" charset="0"/>
              </a:rPr>
              <a:t>Peak finding problem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Big-O Notation</a:t>
            </a:r>
            <a:r>
              <a:rPr lang="lv-LV" dirty="0" smtClean="0">
                <a:latin typeface="Calibri" pitchFamily="34" charset="0"/>
                <a:cs typeface="Calibri" pitchFamily="34" charset="0"/>
              </a:rPr>
              <a:t>, the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Properties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of the Big-O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Notation</a:t>
            </a:r>
            <a:r>
              <a:rPr lang="lv-LV" dirty="0" smtClean="0">
                <a:latin typeface="Calibri" pitchFamily="34" charset="0"/>
                <a:cs typeface="Calibri" pitchFamily="34" charset="0"/>
              </a:rPr>
              <a:t>.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Ω </a:t>
            </a:r>
            <a:r>
              <a:rPr lang="en-US" dirty="0">
                <a:latin typeface="Calibri" pitchFamily="34" charset="0"/>
                <a:cs typeface="Calibri" pitchFamily="34" charset="0"/>
              </a:rPr>
              <a:t>and </a:t>
            </a:r>
            <a:r>
              <a:rPr lang="el-GR" dirty="0">
                <a:latin typeface="Calibri" pitchFamily="34" charset="0"/>
                <a:cs typeface="Calibri" pitchFamily="34" charset="0"/>
              </a:rPr>
              <a:t>Θ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Notations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Typical examples </a:t>
            </a:r>
            <a:r>
              <a:rPr lang="en-US" dirty="0">
                <a:latin typeface="Calibri" pitchFamily="34" charset="0"/>
                <a:cs typeface="Calibri" pitchFamily="34" charset="0"/>
              </a:rPr>
              <a:t>of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complexities (time complexity hierarchy)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eaLnBrk="1" hangingPunct="1"/>
            <a:r>
              <a:rPr lang="en-US" dirty="0">
                <a:latin typeface="Calibri" pitchFamily="34" charset="0"/>
                <a:cs typeface="Calibri" pitchFamily="34" charset="0"/>
              </a:rPr>
              <a:t>Finding Asymptotic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Complexity. Best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Average, and Worst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Cases</a:t>
            </a:r>
          </a:p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Solving recurrences in Big-O notation</a:t>
            </a:r>
          </a:p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Analyze pseudocode in Big-O notation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2738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Computational and Asymptotic Complexity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libri" pitchFamily="34" charset="0"/>
                <a:cs typeface="Calibri" pitchFamily="34" charset="0"/>
              </a:rPr>
              <a:t>Algorithms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are an essential aspect of data structures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Data structures are implemented using algorithms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Some algorithms are more efficient than others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Efficiency is preferred; we need metrics to compare them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An algorithm’s </a:t>
            </a:r>
            <a:r>
              <a:rPr lang="en-US" b="1" i="1" dirty="0">
                <a:latin typeface="Calibri" pitchFamily="34" charset="0"/>
                <a:cs typeface="Calibri" pitchFamily="34" charset="0"/>
              </a:rPr>
              <a:t>complexity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is a function describing the efficiency of the algorithm in terms of the amount of data the algorithm must process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There are two main complexity measures of efficiency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485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Computational and Asymptotic Complexity (continued)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latin typeface="Calibri" pitchFamily="34" charset="0"/>
                <a:cs typeface="Calibri" pitchFamily="34" charset="0"/>
              </a:rPr>
              <a:t>Time complexity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describes the amount of time an algorithm takes in terms of the amount of input</a:t>
            </a:r>
          </a:p>
          <a:p>
            <a:r>
              <a:rPr lang="en-US" b="1" i="1" dirty="0">
                <a:latin typeface="Calibri" pitchFamily="34" charset="0"/>
                <a:cs typeface="Calibri" pitchFamily="34" charset="0"/>
              </a:rPr>
              <a:t>Space complexity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describes the amount of memory (space) an algorithm takes in terms of the amount of input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For both measures, we are interested in the algorithm’s </a:t>
            </a:r>
            <a:r>
              <a:rPr lang="en-US" b="1" i="1" dirty="0">
                <a:latin typeface="Calibri" pitchFamily="34" charset="0"/>
                <a:cs typeface="Calibri" pitchFamily="34" charset="0"/>
              </a:rPr>
              <a:t>asymptotic</a:t>
            </a:r>
            <a:r>
              <a:rPr lang="en-US" dirty="0">
                <a:latin typeface="Calibri" pitchFamily="34" charset="0"/>
                <a:cs typeface="Calibri" pitchFamily="34" charset="0"/>
              </a:rPr>
              <a:t> complexity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This asks: when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(number of input items) goes to infinity, what happens to the algorithm’s performance?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2175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Computational and Asymptotic Complexity (continued)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To illustrate this, consider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+ 100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log</a:t>
            </a:r>
            <a:r>
              <a:rPr lang="en-US" baseline="-25000" dirty="0">
                <a:latin typeface="Calibri" pitchFamily="34" charset="0"/>
                <a:cs typeface="Calibri" pitchFamily="34" charset="0"/>
              </a:rPr>
              <a:t>10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+ 1000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As the value of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increases, the importance of each term shifts until for large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only the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term is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significant</a:t>
            </a:r>
            <a:r>
              <a:rPr lang="lv-LV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dirty="0"/>
              <a:t>The growth rate of all terms of function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+ 100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log</a:t>
            </a:r>
            <a:r>
              <a:rPr lang="en-US" baseline="-25000" dirty="0">
                <a:latin typeface="Calibri" pitchFamily="34" charset="0"/>
                <a:cs typeface="Calibri" pitchFamily="34" charset="0"/>
              </a:rPr>
              <a:t>10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+ 1000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276" y="3609976"/>
            <a:ext cx="608647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31183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Peak Finding Problem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dirty="0" smtClean="0"/>
                  <a:t>Consider an array filled with any </a:t>
                </a:r>
                <a:r>
                  <a:rPr lang="lv-LV" i="1" dirty="0" smtClean="0"/>
                  <a:t>n</a:t>
                </a:r>
                <a:r>
                  <a:rPr lang="lv-LV" dirty="0" smtClean="0"/>
                  <a:t> numbers: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lv-LV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lv-LV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is a peak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lv-LV" dirty="0" smtClean="0"/>
                  <a:t> </a:t>
                </a:r>
                <a:r>
                  <a:rPr lang="en-US" dirty="0" smtClean="0"/>
                  <a:t>— </a:t>
                </a:r>
                <a:r>
                  <a:rPr lang="en-US" dirty="0"/>
                  <a:t>since it only has one </a:t>
                </a:r>
                <a:r>
                  <a:rPr lang="en-US" dirty="0" smtClean="0"/>
                  <a:t>neighbor.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peak if and only if </a:t>
                </a:r>
                <a:r>
                  <a:rPr lang="lv-LV" dirty="0" err="1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err="1"/>
                  <a:t>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err="1"/>
                  <a:t>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lv-LV" dirty="0" smtClean="0"/>
              </a:p>
              <a:p>
                <a:pPr marL="0" indent="0">
                  <a:buNone/>
                </a:pPr>
                <a:endParaRPr lang="lv-LV" dirty="0" smtClean="0"/>
              </a:p>
              <a:p>
                <a:pPr marL="0" indent="0">
                  <a:buNone/>
                </a:pPr>
                <a:r>
                  <a:rPr lang="lv-LV" dirty="0" smtClean="0"/>
                  <a:t>Does </a:t>
                </a:r>
                <a:r>
                  <a:rPr lang="lv-LV" dirty="0"/>
                  <a:t>a peak always exist (regardless of the array)? Is it unique?</a:t>
                </a:r>
              </a:p>
              <a:p>
                <a:pPr marL="0" indent="0">
                  <a:buNone/>
                </a:pPr>
                <a:endParaRPr lang="lv-LV" dirty="0" smtClean="0"/>
              </a:p>
              <a:p>
                <a:pPr marL="0" indent="0">
                  <a:buNone/>
                </a:pPr>
                <a:r>
                  <a:rPr lang="lv-LV" b="1" dirty="0" smtClean="0"/>
                  <a:t>Problem 1: </a:t>
                </a:r>
                <a:r>
                  <a:rPr lang="en-US" dirty="0" smtClean="0"/>
                  <a:t>Write </a:t>
                </a:r>
                <a:r>
                  <a:rPr lang="en-US" dirty="0"/>
                  <a:t>an algorithm that finds a peak (if a peak exists</a:t>
                </a:r>
                <a:r>
                  <a:rPr lang="en-US" dirty="0" smtClean="0"/>
                  <a:t>)</a:t>
                </a:r>
                <a:r>
                  <a:rPr lang="lv-LV" dirty="0" smtClean="0"/>
                  <a:t>. </a:t>
                </a:r>
              </a:p>
              <a:p>
                <a:pPr marL="0" indent="0">
                  <a:buNone/>
                </a:pPr>
                <a:r>
                  <a:rPr lang="lv-LV" b="1" dirty="0" smtClean="0"/>
                  <a:t>Problem 2:</a:t>
                </a:r>
                <a:r>
                  <a:rPr lang="lv-LV" dirty="0" smtClean="0"/>
                  <a:t> Let T(n) denote a "worst case" time (number of operations) to find a peak in an array of size n. Write a recurrence for T(n).</a:t>
                </a:r>
              </a:p>
              <a:p>
                <a:pPr marL="0" indent="0">
                  <a:buNone/>
                </a:pPr>
                <a:r>
                  <a:rPr lang="lv-LV" dirty="0" smtClean="0"/>
                  <a:t> 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 r="-300" b="-681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2377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Write Pseudocode to Do Linear Search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b="1" dirty="0" smtClean="0"/>
              <a:t>Problem Variant #1: 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Human-readable code to find peaks (Python + English sentences?). Use Linear Search – scan the array until you find the peak. 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Recurrence for T(n) – how increasing the size of array can be reduced to an array of a smaller size? 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Solve the recurrence to find the complexity. </a:t>
            </a:r>
            <a:endParaRPr lang="lv-LV" dirty="0"/>
          </a:p>
          <a:p>
            <a:pPr marL="0" indent="0">
              <a:buNone/>
            </a:pP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1668411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More Efficient algorithm to find Peaks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b="1" dirty="0" smtClean="0"/>
              <a:t>Problem Variant #2: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Write pseudocode for an algorithm that does not need to scan the whole array linearly. 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Recurrence for T(n) – express time used for larger inputs via time used for smaller inputs.</a:t>
            </a:r>
          </a:p>
          <a:p>
            <a:pPr marL="457200" indent="-457200">
              <a:buFont typeface="+mj-lt"/>
              <a:buAutoNum type="arabicPeriod"/>
            </a:pPr>
            <a:r>
              <a:rPr lang="lv-LV" dirty="0" smtClean="0"/>
              <a:t>Solve the recurrence for T(n)</a:t>
            </a:r>
          </a:p>
        </p:txBody>
      </p:sp>
    </p:spTree>
    <p:extLst>
      <p:ext uri="{BB962C8B-B14F-4D97-AF65-F5344CB8AC3E}">
        <p14:creationId xmlns:p14="http://schemas.microsoft.com/office/powerpoint/2010/main" val="28157011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Big-O Notation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 i="0" smtClean="0"/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 is a function from </a:t>
                </a:r>
                <a:r>
                  <a:rPr lang="en-US" b="1" dirty="0" smtClean="0"/>
                  <a:t>N</a:t>
                </a:r>
                <a:r>
                  <a:rPr lang="en-US" dirty="0" smtClean="0"/>
                  <a:t> (set of non-negative integers)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(the set of non-negative real numbers).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is the set of all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/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b="1" i="0" smtClean="0"/>
                      <m:t>R</m:t>
                    </m:r>
                  </m:oMath>
                </a14:m>
                <a:r>
                  <a:rPr lang="en-US" dirty="0" smtClean="0"/>
                  <a:t>  such that there exist real constants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lv-LV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/>
                  <a:t>Example: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 = 13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We can pick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Typically written like this: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+7=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  <a:blipFill>
                <a:blip r:embed="rId3"/>
                <a:stretch>
                  <a:fillRect l="-1551" t="-1068" r="-155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614615"/>
            <a:ext cx="4280025" cy="348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916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Big-O: Examples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 smtClean="0">
                    <a:solidFill>
                      <a:srgbClr val="0033CC"/>
                    </a:solidFill>
                  </a:rPr>
                  <a:t>.</a:t>
                </a:r>
                <a:endParaRPr lang="pt-BR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pt-BR" dirty="0" smtClean="0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pt-BR" dirty="0" smtClean="0"/>
                  <a:t>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pt-BR" dirty="0" smtClean="0"/>
                  <a:t>.  (Can pick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 smtClean="0"/>
                  <a:t>.)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+6=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pt-BR" dirty="0" smtClean="0"/>
                  <a:t>We have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0.00001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&gt;3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–100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pt-BR" dirty="0" smtClean="0"/>
                  <a:t>, if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300000</m:t>
                    </m:r>
                  </m:oMath>
                </a14:m>
                <a:r>
                  <a:rPr lang="pt-BR" dirty="0" smtClean="0"/>
                  <a:t>. (Can pick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=300000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 smtClean="0"/>
                  <a:t>.)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  <a:p>
                <a:pPr marL="0" indent="0">
                  <a:buNone/>
                </a:pPr>
                <a:r>
                  <a:rPr lang="pt-BR" dirty="0" smtClean="0"/>
                  <a:t>There is no value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 smtClean="0"/>
                  <a:t> such that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&gt;3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+ 6</m:t>
                    </m:r>
                  </m:oMath>
                </a14:m>
                <a:r>
                  <a:rPr lang="pt-BR" dirty="0" smtClean="0"/>
                  <a:t>. </a:t>
                </a:r>
                <a:br>
                  <a:rPr lang="pt-BR" dirty="0" smtClean="0"/>
                </a:br>
                <a:r>
                  <a:rPr lang="pt-BR" dirty="0" smtClean="0"/>
                  <a:t>(Can pick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 smtClean="0"/>
                  <a:t> to disprove.)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 r="-960" b="-681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851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Big-O Notation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lv-LV" dirty="0" smtClean="0">
                <a:latin typeface="Calibri" pitchFamily="34" charset="0"/>
                <a:cs typeface="Calibri" pitchFamily="34" charset="0"/>
              </a:rPr>
              <a:t>Function inside the Big-O Notation is typically simple: </a:t>
            </a:r>
            <a:br>
              <a:rPr lang="lv-LV" dirty="0" smtClean="0">
                <a:latin typeface="Calibri" pitchFamily="34" charset="0"/>
                <a:cs typeface="Calibri" pitchFamily="34" charset="0"/>
              </a:rPr>
            </a:br>
            <a:r>
              <a:rPr lang="lv-LV" dirty="0" smtClean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unctions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lv-LV" dirty="0" smtClean="0">
                <a:latin typeface="Calibri" pitchFamily="34" charset="0"/>
                <a:cs typeface="Calibri" pitchFamily="34" charset="0"/>
              </a:rPr>
              <a:t>are all in 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+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, 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-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log n + 12, 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/5 </a:t>
            </a:r>
            <a:r>
              <a:rPr lang="en-US" dirty="0">
                <a:latin typeface="Calibri" pitchFamily="34" charset="0"/>
                <a:cs typeface="Calibri" pitchFamily="34" charset="0"/>
              </a:rPr>
              <a:t>- 100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, 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log 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</a:t>
            </a:r>
            <a:r>
              <a:rPr lang="lv-LV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endParaRPr lang="lv-LV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262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Big-O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</a:t>
            </a:r>
            <a:r>
              <a:rPr lang="lv-LV" dirty="0" smtClean="0"/>
              <a:t>should be squeezed under </a:t>
            </a:r>
            <a:r>
              <a:rPr lang="en-US" i="1" dirty="0" smtClean="0"/>
              <a:t>cg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</a:t>
            </a:r>
            <a:r>
              <a:rPr lang="en-US" i="1" dirty="0" smtClean="0"/>
              <a:t> </a:t>
            </a:r>
            <a:r>
              <a:rPr lang="lv-LV" dirty="0" smtClean="0"/>
              <a:t>for some constant c.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While </a:t>
            </a:r>
            <a:r>
              <a:rPr lang="en-US" sz="2400" i="1" dirty="0"/>
              <a:t>c</a:t>
            </a:r>
            <a:r>
              <a:rPr lang="en-US" sz="2400" dirty="0"/>
              <a:t> and </a:t>
            </a:r>
            <a:r>
              <a:rPr lang="en-US" sz="2400" i="1" dirty="0"/>
              <a:t>N</a:t>
            </a:r>
            <a:r>
              <a:rPr lang="en-US" sz="2400" dirty="0"/>
              <a:t> exist, it does not tell us how to calculate them or what to do if multiple candidates exist (and they often do)</a:t>
            </a:r>
          </a:p>
          <a:p>
            <a:r>
              <a:rPr lang="en-US" sz="2400" dirty="0"/>
              <a:t>Consider the function </a:t>
            </a:r>
            <a:r>
              <a:rPr lang="en-US" sz="2400" i="1" dirty="0"/>
              <a:t>f</a:t>
            </a:r>
            <a:r>
              <a:rPr lang="en-US" sz="2400" dirty="0"/>
              <a:t>:</a:t>
            </a:r>
          </a:p>
          <a:p>
            <a:pPr marL="0" indent="0" algn="ctr">
              <a:buNone/>
            </a:pPr>
            <a:r>
              <a:rPr lang="pt-BR" sz="2400" i="1" dirty="0"/>
              <a:t>f </a:t>
            </a:r>
            <a:r>
              <a:rPr lang="pt-BR" sz="2400" dirty="0"/>
              <a:t>(</a:t>
            </a:r>
            <a:r>
              <a:rPr lang="pt-BR" sz="2400" i="1" dirty="0"/>
              <a:t>n</a:t>
            </a:r>
            <a:r>
              <a:rPr lang="pt-BR" sz="2400" dirty="0"/>
              <a:t>) = 2</a:t>
            </a:r>
            <a:r>
              <a:rPr lang="pt-BR" sz="2400" i="1" dirty="0"/>
              <a:t>n</a:t>
            </a:r>
            <a:r>
              <a:rPr lang="pt-BR" sz="2400" baseline="30000" dirty="0"/>
              <a:t>2</a:t>
            </a:r>
            <a:r>
              <a:rPr lang="pt-BR" sz="2400" dirty="0"/>
              <a:t> + 3</a:t>
            </a:r>
            <a:r>
              <a:rPr lang="pt-BR" sz="2400" i="1" dirty="0"/>
              <a:t>n </a:t>
            </a:r>
            <a:r>
              <a:rPr lang="pt-BR" sz="2400" dirty="0"/>
              <a:t>+ 1</a:t>
            </a:r>
            <a:endParaRPr lang="en-US" sz="2400" dirty="0"/>
          </a:p>
          <a:p>
            <a:pPr marL="0" indent="339725">
              <a:buNone/>
            </a:pPr>
            <a:r>
              <a:rPr lang="en-US" sz="2400" dirty="0"/>
              <a:t>and </a:t>
            </a:r>
            <a:r>
              <a:rPr lang="en-US" sz="2400" i="1" dirty="0"/>
              <a:t>g</a:t>
            </a:r>
            <a:r>
              <a:rPr lang="en-US" sz="2400" dirty="0"/>
              <a:t>:</a:t>
            </a:r>
          </a:p>
          <a:p>
            <a:pPr marL="0" indent="0" algn="ctr">
              <a:buNone/>
            </a:pP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</a:t>
            </a:r>
            <a:r>
              <a:rPr lang="en-US" sz="2400" i="1" dirty="0"/>
              <a:t>n</a:t>
            </a:r>
            <a:r>
              <a:rPr lang="en-US" sz="2400" baseline="30000" dirty="0"/>
              <a:t>2</a:t>
            </a:r>
          </a:p>
          <a:p>
            <a:r>
              <a:rPr lang="en-US" sz="2400" dirty="0"/>
              <a:t>Clearly </a:t>
            </a:r>
            <a:r>
              <a:rPr lang="pt-BR" sz="2400" i="1" dirty="0"/>
              <a:t>f </a:t>
            </a:r>
            <a:r>
              <a:rPr lang="pt-BR" sz="2400" dirty="0"/>
              <a:t>(</a:t>
            </a:r>
            <a:r>
              <a:rPr lang="pt-BR" sz="2400" i="1" dirty="0"/>
              <a:t>n</a:t>
            </a:r>
            <a:r>
              <a:rPr lang="pt-BR" sz="2400" dirty="0"/>
              <a:t>) is </a:t>
            </a:r>
            <a:r>
              <a:rPr lang="en-US" sz="2400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sz="2400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); possible candidates for </a:t>
            </a:r>
            <a:r>
              <a:rPr lang="en-US" sz="2400" i="1" dirty="0"/>
              <a:t>c</a:t>
            </a:r>
            <a:r>
              <a:rPr lang="en-US" sz="2400" dirty="0"/>
              <a:t> and </a:t>
            </a:r>
            <a:r>
              <a:rPr lang="en-US" sz="2400" i="1" dirty="0"/>
              <a:t>N</a:t>
            </a:r>
            <a:r>
              <a:rPr lang="en-US" sz="2400" dirty="0"/>
              <a:t> are shown in the next slide</a:t>
            </a:r>
          </a:p>
          <a:p>
            <a:endParaRPr lang="lv-LV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30" y="2895600"/>
            <a:ext cx="5256170" cy="3385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61496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>
                <a:latin typeface="Calibri" pitchFamily="34" charset="0"/>
                <a:cs typeface="Calibri" pitchFamily="34" charset="0"/>
              </a:rPr>
              <a:t>Example: Check by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Consider </a:t>
            </a:r>
            <a:r>
              <a:rPr lang="en-US" dirty="0">
                <a:latin typeface="Calibri" pitchFamily="34" charset="0"/>
                <a:cs typeface="Calibri" pitchFamily="34" charset="0"/>
              </a:rPr>
              <a:t>the function 3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+ 4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-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2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cs typeface="Calibri" pitchFamily="34" charset="0"/>
              </a:rPr>
              <a:t>We need a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</a:t>
            </a:r>
            <a:r>
              <a:rPr lang="en-US" dirty="0">
                <a:latin typeface="Calibri" pitchFamily="34" charset="0"/>
                <a:cs typeface="Calibri" pitchFamily="34" charset="0"/>
              </a:rPr>
              <a:t> and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 </a:t>
            </a:r>
            <a:r>
              <a:rPr lang="en-US" dirty="0">
                <a:latin typeface="Calibri" pitchFamily="34" charset="0"/>
                <a:cs typeface="Calibri" pitchFamily="34" charset="0"/>
              </a:rPr>
              <a:t>such that: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3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+ 4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- 2 </a:t>
            </a:r>
            <a:r>
              <a:rPr lang="en-US" u="sng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344488" indent="-344488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	for all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</a:t>
            </a:r>
            <a:r>
              <a:rPr lang="en-US" u="sng" dirty="0" smtClean="0">
                <a:latin typeface="Calibri" pitchFamily="34" charset="0"/>
                <a:cs typeface="Calibri" pitchFamily="34" charset="0"/>
              </a:rPr>
              <a:t>&gt;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endParaRPr lang="en-US" i="1" dirty="0" smtClean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22860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>
                <a:latin typeface="Calibri" pitchFamily="34" charset="0"/>
                <a:cs typeface="Calibri" pitchFamily="34" charset="0"/>
              </a:rPr>
              <a:t>Example: Check by Definition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cs typeface="Calibri" pitchFamily="34" charset="0"/>
              </a:rPr>
              <a:t>Dividing by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gives us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3 + 4/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– 2/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u="sng" dirty="0">
                <a:latin typeface="Calibri" pitchFamily="34" charset="0"/>
                <a:cs typeface="Calibri" pitchFamily="34" charset="0"/>
              </a:rPr>
              <a:t>&lt;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cs typeface="Calibri" pitchFamily="34" charset="0"/>
              </a:rPr>
              <a:t>Choosing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= 1, we need to find a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</a:t>
            </a:r>
            <a:r>
              <a:rPr lang="en-US" dirty="0">
                <a:latin typeface="Calibri" pitchFamily="34" charset="0"/>
                <a:cs typeface="Calibri" pitchFamily="34" charset="0"/>
              </a:rPr>
              <a:t> such that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3 + 4 – 2 </a:t>
            </a:r>
            <a:r>
              <a:rPr lang="en-US" u="sng" dirty="0">
                <a:latin typeface="Calibri" pitchFamily="34" charset="0"/>
                <a:cs typeface="Calibri" pitchFamily="34" charset="0"/>
              </a:rPr>
              <a:t>&lt;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cs typeface="Calibri" pitchFamily="34" charset="0"/>
              </a:rPr>
              <a:t>We can set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c</a:t>
            </a:r>
            <a:r>
              <a:rPr lang="en-US" dirty="0">
                <a:latin typeface="Calibri" pitchFamily="34" charset="0"/>
                <a:cs typeface="Calibri" pitchFamily="34" charset="0"/>
              </a:rPr>
              <a:t> = 6, so we have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3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+ 4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- 2 </a:t>
            </a:r>
            <a:r>
              <a:rPr lang="en-US" u="sng" dirty="0">
                <a:latin typeface="Calibri" pitchFamily="34" charset="0"/>
                <a:cs typeface="Calibri" pitchFamily="34" charset="0"/>
              </a:rPr>
              <a:t>&lt;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6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2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344488" indent="-344488"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	for all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u="sng" dirty="0">
                <a:latin typeface="Calibri" pitchFamily="34" charset="0"/>
                <a:cs typeface="Calibri" pitchFamily="34" charset="0"/>
              </a:rPr>
              <a:t>&gt;</a:t>
            </a:r>
            <a:r>
              <a:rPr lang="en-US" dirty="0">
                <a:latin typeface="Calibri" pitchFamily="34" charset="0"/>
                <a:cs typeface="Calibri" pitchFamily="34" charset="0"/>
              </a:rPr>
              <a:t> 1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So our function is 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en-US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439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>
                <a:latin typeface="Calibri" pitchFamily="34" charset="0"/>
                <a:cs typeface="Calibri" pitchFamily="34" charset="0"/>
              </a:rPr>
              <a:t>Properties of Big-O Notation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>
                <a:latin typeface="Calibri" pitchFamily="34" charset="0"/>
                <a:cs typeface="Calibri" pitchFamily="34" charset="0"/>
              </a:rPr>
              <a:t>Big-O </a:t>
            </a:r>
            <a:r>
              <a:rPr lang="pt-BR" dirty="0">
                <a:latin typeface="Calibri" pitchFamily="34" charset="0"/>
                <a:cs typeface="Calibri" pitchFamily="34" charset="0"/>
              </a:rPr>
              <a:t>is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transitive</a:t>
            </a:r>
            <a:r>
              <a:rPr lang="pt-BR" dirty="0">
                <a:latin typeface="Calibri" pitchFamily="34" charset="0"/>
                <a:cs typeface="Calibri" pitchFamily="34" charset="0"/>
              </a:rPr>
              <a:t>: if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 and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is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)), then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</a:t>
            </a:r>
          </a:p>
          <a:p>
            <a:r>
              <a:rPr lang="pt-BR" dirty="0">
                <a:latin typeface="Calibri" pitchFamily="34" charset="0"/>
                <a:cs typeface="Calibri" pitchFamily="34" charset="0"/>
              </a:rPr>
              <a:t>If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 and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is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)), then 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+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h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</a:t>
            </a:r>
          </a:p>
          <a:p>
            <a:r>
              <a:rPr lang="pt-BR" dirty="0">
                <a:latin typeface="Calibri" pitchFamily="34" charset="0"/>
                <a:cs typeface="Calibri" pitchFamily="34" charset="0"/>
              </a:rPr>
              <a:t>A function </a:t>
            </a:r>
            <a:r>
              <a:rPr lang="en-US" i="1" dirty="0" err="1">
                <a:latin typeface="Calibri" pitchFamily="34" charset="0"/>
                <a:cs typeface="Calibri" pitchFamily="34" charset="0"/>
              </a:rPr>
              <a:t>an</a:t>
            </a:r>
            <a:r>
              <a:rPr lang="en-US" i="1" baseline="30000" dirty="0" err="1">
                <a:latin typeface="Calibri" pitchFamily="34" charset="0"/>
                <a:cs typeface="Calibri" pitchFamily="34" charset="0"/>
              </a:rPr>
              <a:t>k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=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err="1">
                <a:latin typeface="Calibri" pitchFamily="34" charset="0"/>
                <a:cs typeface="Calibri" pitchFamily="34" charset="0"/>
              </a:rPr>
              <a:t>n</a:t>
            </a:r>
            <a:r>
              <a:rPr lang="en-US" i="1" baseline="30000" dirty="0" err="1">
                <a:latin typeface="Calibri" pitchFamily="34" charset="0"/>
                <a:cs typeface="Calibri" pitchFamily="34" charset="0"/>
              </a:rPr>
              <a:t>k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for any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a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&gt; 0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Any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k</a:t>
            </a:r>
            <a:r>
              <a:rPr lang="en-US" baseline="30000" dirty="0">
                <a:latin typeface="Calibri" pitchFamily="34" charset="0"/>
                <a:cs typeface="Calibri" pitchFamily="34" charset="0"/>
              </a:rPr>
              <a:t>th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degree polynomial is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 err="1">
                <a:latin typeface="Calibri" pitchFamily="34" charset="0"/>
                <a:cs typeface="Calibri" pitchFamily="34" charset="0"/>
              </a:rPr>
              <a:t>n</a:t>
            </a:r>
            <a:r>
              <a:rPr lang="en-US" i="1" baseline="30000" dirty="0" err="1">
                <a:latin typeface="Calibri" pitchFamily="34" charset="0"/>
                <a:cs typeface="Calibri" pitchFamily="34" charset="0"/>
              </a:rPr>
              <a:t>k+j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for any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j</a:t>
            </a:r>
            <a:r>
              <a:rPr lang="en-US" dirty="0">
                <a:latin typeface="Calibri" pitchFamily="34" charset="0"/>
                <a:cs typeface="Calibri" pitchFamily="34" charset="0"/>
              </a:rPr>
              <a:t> &gt;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0</a:t>
            </a:r>
            <a:endParaRPr lang="lv-LV" i="1" dirty="0">
              <a:latin typeface="Calibri" pitchFamily="34" charset="0"/>
              <a:cs typeface="Calibri" pitchFamily="34" charset="0"/>
            </a:endParaRPr>
          </a:p>
          <a:p>
            <a:r>
              <a:rPr lang="pt-BR" i="1" dirty="0" smtClean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 smtClean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 is true if lim</a:t>
            </a:r>
            <a:r>
              <a:rPr lang="pt-BR" i="1" baseline="-25000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baseline="-25000" dirty="0">
                <a:latin typeface="Calibri" pitchFamily="34" charset="0"/>
                <a:cs typeface="Calibri" pitchFamily="34" charset="0"/>
              </a:rPr>
              <a:t>-&gt;∞ 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)/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is a constant. Put another way, if 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cg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), then 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pt-BR" dirty="0">
                <a:latin typeface="Calibri" pitchFamily="34" charset="0"/>
                <a:cs typeface="Calibri" pitchFamily="34" charset="0"/>
              </a:rPr>
              <a:t>(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))</a:t>
            </a:r>
          </a:p>
          <a:p>
            <a:r>
              <a:rPr lang="pt-BR" dirty="0">
                <a:latin typeface="Calibri" pitchFamily="34" charset="0"/>
                <a:cs typeface="Calibri" pitchFamily="34" charset="0"/>
              </a:rPr>
              <a:t>log</a:t>
            </a:r>
            <a:r>
              <a:rPr lang="pt-BR" i="1" baseline="-25000" dirty="0">
                <a:latin typeface="Calibri" pitchFamily="34" charset="0"/>
                <a:cs typeface="Calibri" pitchFamily="34" charset="0"/>
              </a:rPr>
              <a:t>a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 =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>
                <a:latin typeface="Calibri" pitchFamily="34" charset="0"/>
                <a:cs typeface="Calibri" pitchFamily="34" charset="0"/>
              </a:rPr>
              <a:t>(log</a:t>
            </a:r>
            <a:r>
              <a:rPr lang="pt-BR" i="1" baseline="-25000" dirty="0">
                <a:latin typeface="Calibri" pitchFamily="34" charset="0"/>
                <a:cs typeface="Calibri" pitchFamily="34" charset="0"/>
              </a:rPr>
              <a:t>b</a:t>
            </a:r>
            <a:r>
              <a:rPr lang="pt-BR" dirty="0">
                <a:latin typeface="Calibri" pitchFamily="34" charset="0"/>
                <a:cs typeface="Calibri" pitchFamily="34" charset="0"/>
              </a:rPr>
              <a:t>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for any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a</a:t>
            </a:r>
            <a:r>
              <a:rPr lang="pt-BR" dirty="0">
                <a:latin typeface="Calibri" pitchFamily="34" charset="0"/>
                <a:cs typeface="Calibri" pitchFamily="34" charset="0"/>
              </a:rPr>
              <a:t>,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b</a:t>
            </a:r>
            <a:r>
              <a:rPr lang="pt-BR" dirty="0">
                <a:latin typeface="Calibri" pitchFamily="34" charset="0"/>
                <a:cs typeface="Calibri" pitchFamily="34" charset="0"/>
              </a:rPr>
              <a:t> &gt; 1. </a:t>
            </a:r>
            <a:r>
              <a:rPr lang="pt-BR" dirty="0" smtClean="0">
                <a:latin typeface="Calibri" pitchFamily="34" charset="0"/>
                <a:cs typeface="Calibri" pitchFamily="34" charset="0"/>
              </a:rPr>
              <a:t>Typically </a:t>
            </a:r>
            <a:r>
              <a:rPr lang="pt-BR" dirty="0">
                <a:latin typeface="Calibri" pitchFamily="34" charset="0"/>
                <a:cs typeface="Calibri" pitchFamily="34" charset="0"/>
              </a:rPr>
              <a:t>we don’t care what base our logarithms are</a:t>
            </a:r>
          </a:p>
          <a:p>
            <a:r>
              <a:rPr lang="pt-BR" dirty="0">
                <a:latin typeface="Calibri" pitchFamily="34" charset="0"/>
                <a:cs typeface="Calibri" pitchFamily="34" charset="0"/>
              </a:rPr>
              <a:t>Given the preceding, we can use just one base and rewrite the relationship as log</a:t>
            </a:r>
            <a:r>
              <a:rPr lang="pt-BR" i="1" baseline="-25000" dirty="0">
                <a:latin typeface="Calibri" pitchFamily="34" charset="0"/>
                <a:cs typeface="Calibri" pitchFamily="34" charset="0"/>
              </a:rPr>
              <a:t>a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 = </a:t>
            </a:r>
            <a:r>
              <a:rPr lang="pt-BR" i="1" dirty="0" smtClean="0">
                <a:latin typeface="Calibri" pitchFamily="34" charset="0"/>
                <a:cs typeface="Calibri" pitchFamily="34" charset="0"/>
              </a:rPr>
              <a:t>O</a:t>
            </a:r>
            <a:r>
              <a:rPr lang="pt-BR" dirty="0" smtClean="0">
                <a:latin typeface="Calibri" pitchFamily="34" charset="0"/>
                <a:cs typeface="Calibri" pitchFamily="34" charset="0"/>
              </a:rPr>
              <a:t>(log</a:t>
            </a:r>
            <a:r>
              <a:rPr lang="pt-BR" dirty="0">
                <a:latin typeface="Calibri" pitchFamily="34" charset="0"/>
                <a:cs typeface="Calibri" pitchFamily="34" charset="0"/>
              </a:rPr>
              <a:t> 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) for positive a ≠ 1 and lg 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pt-BR" dirty="0">
                <a:latin typeface="Calibri" pitchFamily="34" charset="0"/>
                <a:cs typeface="Calibri" pitchFamily="34" charset="0"/>
              </a:rPr>
              <a:t> = log</a:t>
            </a:r>
            <a:r>
              <a:rPr lang="pt-BR" i="1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pt-BR" i="1" dirty="0">
                <a:latin typeface="Calibri" pitchFamily="34" charset="0"/>
                <a:cs typeface="Calibri" pitchFamily="34" charset="0"/>
              </a:rPr>
              <a:t>n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033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</a:t>
            </a:r>
            <a:r>
              <a:rPr lang="el-GR" dirty="0" smtClean="0"/>
              <a:t>Ω</a:t>
            </a:r>
            <a:r>
              <a:rPr lang="en-US" dirty="0" smtClean="0"/>
              <a:t> (Big-Omega) Notation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 i="0" smtClean="0"/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 is a function from </a:t>
                </a:r>
                <a:r>
                  <a:rPr lang="en-US" b="1" dirty="0" smtClean="0"/>
                  <a:t>N</a:t>
                </a:r>
                <a:r>
                  <a:rPr lang="en-US" dirty="0" smtClean="0"/>
                  <a:t> (set of non-negative integers)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(the set of non-negative real numbers).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Ω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is the set of all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/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b="1" i="0" smtClean="0"/>
                      <m:t>R</m:t>
                    </m:r>
                  </m:oMath>
                </a14:m>
                <a:r>
                  <a:rPr lang="en-US" dirty="0" smtClean="0"/>
                  <a:t>  such that there exist real constants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/>
                  <a:t>Example: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 = 13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/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We can pick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Typically written like this: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+7=</m:t>
                    </m:r>
                    <m:r>
                      <m:rPr>
                        <m:nor/>
                      </m:rPr>
                      <a:rPr lang="el-GR"/>
                      <m:t>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  <a:blipFill>
                <a:blip r:embed="rId3"/>
                <a:stretch>
                  <a:fillRect l="-1551" t="-1068" r="-155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14600"/>
            <a:ext cx="4412306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4208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</a:t>
            </a:r>
            <a:r>
              <a:rPr lang="el-GR" dirty="0" smtClean="0"/>
              <a:t>Ω</a:t>
            </a:r>
            <a:r>
              <a:rPr lang="en-US" dirty="0" smtClean="0"/>
              <a:t>: Examples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+6=</m:t>
                    </m:r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 smtClean="0">
                    <a:solidFill>
                      <a:srgbClr val="0033CC"/>
                    </a:solidFill>
                  </a:rPr>
                  <a:t>.</a:t>
                </a:r>
                <a:endParaRPr lang="pt-BR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pt-BR" dirty="0" smtClean="0"/>
                  <a:t>We have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.99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pt-BR" dirty="0" smtClean="0"/>
                  <a:t>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≥10000</m:t>
                    </m:r>
                  </m:oMath>
                </a14:m>
                <a:r>
                  <a:rPr lang="pt-BR" dirty="0" smtClean="0"/>
                  <a:t>.  </a:t>
                </a:r>
                <a:br>
                  <a:rPr lang="pt-BR" dirty="0" smtClean="0"/>
                </a:br>
                <a:r>
                  <a:rPr lang="pt-BR" dirty="0" smtClean="0"/>
                  <a:t>(Can pick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=2.99</m:t>
                    </m:r>
                  </m:oMath>
                </a14:m>
                <a:r>
                  <a:rPr lang="pt-B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r>
                  <a:rPr lang="pt-BR" dirty="0" smtClean="0"/>
                  <a:t>.)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+6≠</m:t>
                    </m:r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pt-BR" dirty="0" smtClean="0"/>
                  <a:t>There is no value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 smtClean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–100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pt-BR" dirty="0" smtClean="0"/>
                  <a:t>. </a:t>
                </a:r>
                <a:br>
                  <a:rPr lang="pt-BR" dirty="0" smtClean="0"/>
                </a:br>
                <a:r>
                  <a:rPr lang="pt-BR" dirty="0" smtClean="0"/>
                  <a:t>(Can 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 smtClean="0"/>
                  <a:t> to disprove)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b="1" dirty="0" smtClean="0"/>
                  <a:t>Prove:</a:t>
                </a:r>
                <a:r>
                  <a:rPr lang="pt-BR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+6=</m:t>
                    </m:r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We </a:t>
                </a:r>
                <a:r>
                  <a:rPr lang="pt-BR" dirty="0" smtClean="0"/>
                  <a:t>have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pt-BR" dirty="0"/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pt-BR" dirty="0"/>
                  <a:t>.  (Can pick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pt-BR" dirty="0" smtClean="0"/>
                  <a:t>.)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 b="-681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3435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dirty="0" smtClean="0">
                <a:latin typeface="Calibri" pitchFamily="34" charset="0"/>
                <a:cs typeface="Calibri" pitchFamily="34" charset="0"/>
              </a:rPr>
              <a:t>Ω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and </a:t>
            </a:r>
            <a:r>
              <a:rPr lang="el-GR" dirty="0" smtClean="0">
                <a:latin typeface="Calibri" pitchFamily="34" charset="0"/>
                <a:cs typeface="Calibri" pitchFamily="34" charset="0"/>
              </a:rPr>
              <a:t>Θ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Notations (continued)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Big-</a:t>
            </a:r>
            <a:r>
              <a:rPr lang="el-GR" dirty="0">
                <a:latin typeface="Calibri" pitchFamily="34" charset="0"/>
                <a:cs typeface="Calibri" pitchFamily="34" charset="0"/>
              </a:rPr>
              <a:t>Ω</a:t>
            </a:r>
            <a:r>
              <a:rPr lang="en-US" dirty="0">
                <a:latin typeface="Calibri" pitchFamily="34" charset="0"/>
                <a:cs typeface="Calibri" pitchFamily="34" charset="0"/>
              </a:rPr>
              <a:t> is for lower bounds what big-O is for upper bounds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b="1" dirty="0">
                <a:latin typeface="Calibri" pitchFamily="34" charset="0"/>
                <a:cs typeface="Calibri" pitchFamily="34" charset="0"/>
              </a:rPr>
              <a:t>Definition</a:t>
            </a:r>
            <a:r>
              <a:rPr lang="en-US" dirty="0">
                <a:latin typeface="Calibri" pitchFamily="34" charset="0"/>
                <a:cs typeface="Calibri" pitchFamily="34" charset="0"/>
              </a:rPr>
              <a:t>: Let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and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be functions, where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is a positive integer. We write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 </a:t>
            </a:r>
            <a:r>
              <a:rPr lang="el-GR" dirty="0">
                <a:latin typeface="Calibri" pitchFamily="34" charset="0"/>
                <a:cs typeface="Calibri" pitchFamily="34" charset="0"/>
              </a:rPr>
              <a:t>Ω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)) if and only if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)). We say "f of n is omega of g of n.“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So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 </a:t>
            </a:r>
            <a:r>
              <a:rPr lang="en-US" dirty="0">
                <a:latin typeface="Calibri" pitchFamily="34" charset="0"/>
                <a:cs typeface="Calibri" pitchFamily="34" charset="0"/>
              </a:rPr>
              <a:t>is a lower bound for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 </a:t>
            </a:r>
            <a:r>
              <a:rPr lang="en-US" dirty="0">
                <a:latin typeface="Calibri" pitchFamily="34" charset="0"/>
                <a:cs typeface="Calibri" pitchFamily="34" charset="0"/>
              </a:rPr>
              <a:t>; after a certain n, and without regard to multiplicative constants,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 </a:t>
            </a:r>
            <a:r>
              <a:rPr lang="en-US" dirty="0">
                <a:latin typeface="Calibri" pitchFamily="34" charset="0"/>
                <a:cs typeface="Calibri" pitchFamily="34" charset="0"/>
              </a:rPr>
              <a:t>will never go below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</a:p>
          <a:p>
            <a:r>
              <a:rPr lang="en-US" dirty="0">
                <a:latin typeface="Calibri" pitchFamily="34" charset="0"/>
                <a:cs typeface="Calibri" pitchFamily="34" charset="0"/>
              </a:rPr>
              <a:t>Finally, theta notation combines upper bounds with lower bounds to get tight bound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b="1" dirty="0">
                <a:latin typeface="Calibri" pitchFamily="34" charset="0"/>
                <a:cs typeface="Calibri" pitchFamily="34" charset="0"/>
              </a:rPr>
              <a:t>Definition</a:t>
            </a:r>
            <a:r>
              <a:rPr lang="en-US" dirty="0">
                <a:latin typeface="Calibri" pitchFamily="34" charset="0"/>
                <a:cs typeface="Calibri" pitchFamily="34" charset="0"/>
              </a:rPr>
              <a:t>: Let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and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be functions, where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 is a positive integer. We write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 </a:t>
            </a:r>
            <a:r>
              <a:rPr lang="el-GR" dirty="0">
                <a:latin typeface="Calibri" pitchFamily="34" charset="0"/>
                <a:cs typeface="Calibri" pitchFamily="34" charset="0"/>
              </a:rPr>
              <a:t>Θ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)) if and only if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)) and 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g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 = 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f</a:t>
            </a:r>
            <a:r>
              <a:rPr lang="en-US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n</a:t>
            </a:r>
            <a:r>
              <a:rPr lang="en-US" dirty="0">
                <a:latin typeface="Calibri" pitchFamily="34" charset="0"/>
                <a:cs typeface="Calibri" pitchFamily="34" charset="0"/>
              </a:rPr>
              <a:t>)). We say "f of n is theta of g of n."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2451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</a:t>
            </a:r>
            <a:r>
              <a:rPr lang="el-GR" dirty="0" smtClean="0"/>
              <a:t>Θ</a:t>
            </a:r>
            <a:r>
              <a:rPr lang="en-US" dirty="0" smtClean="0"/>
              <a:t> (Big-Theta) Notation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Define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/>
                      <m:t>Ω</m:t>
                    </m:r>
                    <m:d>
                      <m:d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lv-LV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dirty="0" smtClean="0"/>
                  <a:t> – the set of all functions having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 as their </a:t>
                </a:r>
                <a:r>
                  <a:rPr lang="en-US" b="1" i="1" dirty="0" smtClean="0">
                    <a:solidFill>
                      <a:srgbClr val="0070C0"/>
                    </a:solidFill>
                  </a:rPr>
                  <a:t>growth order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 i="0" smtClean="0"/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 is a function from </a:t>
                </a:r>
                <a:r>
                  <a:rPr lang="en-US" b="1" dirty="0" smtClean="0"/>
                  <a:t>N</a:t>
                </a:r>
                <a:r>
                  <a:rPr lang="en-US" dirty="0" smtClean="0"/>
                  <a:t> (set of non-negative integers)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v-LV" b="1"/>
                          <m:t>R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0+</m:t>
                        </m:r>
                      </m:sub>
                    </m:sSub>
                  </m:oMath>
                </a14:m>
                <a:r>
                  <a:rPr lang="en-US" dirty="0" smtClean="0"/>
                  <a:t> (the set of non-negative real numbers).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Θ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is the set of all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b="1"/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b="1" i="0" smtClean="0"/>
                      <m:t>R</m:t>
                    </m:r>
                  </m:oMath>
                </a14:m>
                <a:r>
                  <a:rPr lang="en-US" dirty="0" smtClean="0"/>
                  <a:t>  such that there exist real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such that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)≤</m:t>
                      </m:r>
                      <m:d>
                        <m:dPr>
                          <m:begChr m:val="|"/>
                          <m:endChr m:val="|"/>
                          <m:ctrlPr>
                            <a:rPr lang="lv-LV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v-LV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lv-LV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lv-LV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lv-LV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2400" y="1752600"/>
                <a:ext cx="5892800" cy="4571999"/>
              </a:xfrm>
              <a:blipFill>
                <a:blip r:embed="rId2"/>
                <a:stretch>
                  <a:fillRect l="-1551" t="-1068" r="-155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209800"/>
            <a:ext cx="4424362" cy="35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4989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</a:t>
            </a:r>
            <a:r>
              <a:rPr lang="el-GR" dirty="0" smtClean="0"/>
              <a:t>Θ</a:t>
            </a:r>
            <a:r>
              <a:rPr lang="en-US" dirty="0" smtClean="0"/>
              <a:t>: Examples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+6=</m:t>
                    </m:r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 smtClean="0"/>
                  <a:t>, </a:t>
                </a:r>
                <a:r>
                  <a:rPr lang="en-US" dirty="0" smtClean="0"/>
                  <a:t>since both O and </a:t>
                </a:r>
                <a:r>
                  <a:rPr lang="el-GR" dirty="0" smtClean="0"/>
                  <a:t>Ω</a:t>
                </a:r>
                <a:r>
                  <a:rPr lang="en-US" dirty="0" smtClean="0"/>
                  <a:t> are satisfied:  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+6=</m:t>
                    </m:r>
                    <m:r>
                      <m:rPr>
                        <m:nor/>
                      </m:rPr>
                      <a:rPr lang="el-GR" dirty="0" smtClean="0">
                        <a:solidFill>
                          <a:srgbClr val="FF0000"/>
                        </a:solidFill>
                      </a:rPr>
                      <m:t>Ω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+6≠</m:t>
                    </m:r>
                    <m:r>
                      <m:rPr>
                        <m:nor/>
                      </m:rPr>
                      <a:rPr lang="el-GR" dirty="0">
                        <a:solidFill>
                          <a:srgbClr val="FF0000"/>
                        </a:solidFill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dirty="0" smtClean="0"/>
                  <a:t>, since only O is satisfied.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+6≠</m:t>
                    </m:r>
                    <m:r>
                      <m:rPr>
                        <m:nor/>
                      </m:rPr>
                      <a:rPr lang="el-GR" dirty="0">
                        <a:solidFill>
                          <a:srgbClr val="FF0000"/>
                        </a:solidFill>
                      </a:rPr>
                      <m:t>Θ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 smtClean="0"/>
                  <a:t>, since only </a:t>
                </a:r>
                <a:r>
                  <a:rPr lang="el-GR" dirty="0"/>
                  <a:t>Ω</a:t>
                </a:r>
                <a:r>
                  <a:rPr lang="en-US" dirty="0"/>
                  <a:t> </a:t>
                </a:r>
                <a:r>
                  <a:rPr lang="en-US" dirty="0" smtClean="0"/>
                  <a:t>is satisfied.</a:t>
                </a:r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52338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</a:t>
            </a:r>
            <a:r>
              <a:rPr lang="en-US" dirty="0"/>
              <a:t>C</a:t>
            </a:r>
            <a:r>
              <a:rPr lang="en-US" dirty="0" smtClean="0"/>
              <a:t>omplexities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lv-LV" dirty="0" smtClean="0"/>
              <a:t>A</a:t>
            </a:r>
            <a:r>
              <a:rPr lang="en-US" dirty="0" err="1" smtClean="0"/>
              <a:t>lgorithms</a:t>
            </a:r>
            <a:r>
              <a:rPr lang="en-US" dirty="0" smtClean="0"/>
              <a:t> in terms of their time complexity</a:t>
            </a:r>
            <a:r>
              <a:rPr lang="lv-LV" dirty="0" smtClean="0"/>
              <a:t> can be classified by Big-O.</a:t>
            </a:r>
          </a:p>
          <a:p>
            <a:r>
              <a:rPr lang="en-US" dirty="0"/>
              <a:t>Classes of algorithms and their execution times on a computer executing 1 million operations per second </a:t>
            </a:r>
            <a:r>
              <a:rPr lang="lv-LV" dirty="0"/>
              <a:t> </a:t>
            </a:r>
            <a:r>
              <a:rPr lang="en-US" dirty="0"/>
              <a:t>(1 sec = 10</a:t>
            </a:r>
            <a:r>
              <a:rPr lang="en-US" baseline="30000" dirty="0"/>
              <a:t>6</a:t>
            </a:r>
            <a:r>
              <a:rPr lang="en-US" dirty="0"/>
              <a:t> </a:t>
            </a:r>
            <a:r>
              <a:rPr lang="en-US" dirty="0" err="1"/>
              <a:t>μsec</a:t>
            </a:r>
            <a:r>
              <a:rPr lang="en-US" dirty="0"/>
              <a:t> = 10</a:t>
            </a:r>
            <a:r>
              <a:rPr lang="en-US" baseline="30000" dirty="0"/>
              <a:t>3</a:t>
            </a:r>
            <a:r>
              <a:rPr lang="en-US" dirty="0"/>
              <a:t> </a:t>
            </a:r>
            <a:r>
              <a:rPr lang="en-US" dirty="0" err="1"/>
              <a:t>msec</a:t>
            </a:r>
            <a:r>
              <a:rPr lang="en-US" dirty="0"/>
              <a:t>)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3352800"/>
            <a:ext cx="747932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732450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Complexities (continued)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This </a:t>
            </a:r>
            <a:r>
              <a:rPr lang="en-US" dirty="0"/>
              <a:t>graph, and the previous chart, show that some algorithms have no practical application</a:t>
            </a:r>
          </a:p>
          <a:p>
            <a:r>
              <a:rPr lang="lv-LV" dirty="0"/>
              <a:t>C</a:t>
            </a:r>
            <a:r>
              <a:rPr lang="en-US" dirty="0" err="1"/>
              <a:t>ubic</a:t>
            </a:r>
            <a:r>
              <a:rPr lang="en-US" dirty="0"/>
              <a:t> order algorithms or higher are impractical for large </a:t>
            </a:r>
            <a:r>
              <a:rPr lang="lv-LV" dirty="0"/>
              <a:t>inputs (in complexity theory – all polynomial time is considered feasible).</a:t>
            </a:r>
            <a:endParaRPr lang="en-US" dirty="0"/>
          </a:p>
          <a:p>
            <a:endParaRPr lang="lv-LV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2057400"/>
            <a:ext cx="5123602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846718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simple recurrences</a:t>
            </a:r>
            <a:endParaRPr lang="lv-LV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Many algorithms are based on this idea: </a:t>
            </a:r>
          </a:p>
          <a:p>
            <a:r>
              <a:rPr lang="en-US" dirty="0" smtClean="0"/>
              <a:t>Divide the big problem into smaller </a:t>
            </a:r>
            <a:r>
              <a:rPr lang="en-US" dirty="0" err="1" smtClean="0"/>
              <a:t>subproblems</a:t>
            </a:r>
            <a:endParaRPr lang="en-US" dirty="0" smtClean="0"/>
          </a:p>
          <a:p>
            <a:r>
              <a:rPr lang="en-US" dirty="0" smtClean="0"/>
              <a:t>Solve the </a:t>
            </a:r>
            <a:r>
              <a:rPr lang="en-US" dirty="0" err="1" smtClean="0"/>
              <a:t>subproblems</a:t>
            </a:r>
            <a:r>
              <a:rPr lang="en-US" dirty="0" smtClean="0"/>
              <a:t> and combine them into the larger solution.</a:t>
            </a:r>
          </a:p>
          <a:p>
            <a:r>
              <a:rPr lang="en-US" dirty="0" smtClean="0"/>
              <a:t>Runtime depends on:</a:t>
            </a:r>
          </a:p>
          <a:p>
            <a:pPr lvl="1"/>
            <a:r>
              <a:rPr lang="en-US" dirty="0" smtClean="0"/>
              <a:t>The size and the count of </a:t>
            </a:r>
            <a:r>
              <a:rPr lang="en-US" dirty="0" err="1" smtClean="0"/>
              <a:t>subproblems</a:t>
            </a:r>
            <a:endParaRPr lang="en-US" dirty="0" smtClean="0"/>
          </a:p>
          <a:p>
            <a:pPr lvl="1"/>
            <a:r>
              <a:rPr lang="en-US" dirty="0" smtClean="0"/>
              <a:t>The time of decomposition (and re-assembly)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 mention 5 examples of recurrences that appear in analysis of real algorithms.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05905894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Models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How to apply asymptotic bounds for </a:t>
            </a:r>
          </a:p>
          <a:p>
            <a:r>
              <a:rPr lang="en-US" dirty="0" smtClean="0"/>
              <a:t>Time </a:t>
            </a:r>
            <a:r>
              <a:rPr lang="en-US" dirty="0"/>
              <a:t>is measured within </a:t>
            </a:r>
            <a:r>
              <a:rPr lang="en-US" dirty="0" smtClean="0"/>
              <a:t>a certain </a:t>
            </a:r>
            <a:r>
              <a:rPr lang="en-US" i="1" dirty="0" smtClean="0">
                <a:solidFill>
                  <a:srgbClr val="0070C0"/>
                </a:solidFill>
              </a:rPr>
              <a:t>cost model</a:t>
            </a:r>
            <a:r>
              <a:rPr lang="en-US" dirty="0" smtClean="0"/>
              <a:t>. Several </a:t>
            </a:r>
            <a:r>
              <a:rPr lang="en-US" dirty="0"/>
              <a:t>possibilities</a:t>
            </a:r>
            <a:r>
              <a:rPr lang="en-US" dirty="0" smtClean="0"/>
              <a:t>: </a:t>
            </a:r>
            <a:endParaRPr lang="en-US" dirty="0"/>
          </a:p>
          <a:p>
            <a:pPr lvl="1"/>
            <a:r>
              <a:rPr lang="en-US" dirty="0" smtClean="0"/>
              <a:t>Time </a:t>
            </a:r>
            <a:r>
              <a:rPr lang="en-US" dirty="0"/>
              <a:t>is measured as executed pseudocode lines. </a:t>
            </a:r>
            <a:endParaRPr lang="en-US" dirty="0" smtClean="0"/>
          </a:p>
          <a:p>
            <a:pPr lvl="1"/>
            <a:r>
              <a:rPr lang="en-US" dirty="0" smtClean="0"/>
              <a:t>Time </a:t>
            </a:r>
            <a:r>
              <a:rPr lang="en-US" dirty="0"/>
              <a:t>is measured as certain basic operations (such as comparisons </a:t>
            </a:r>
            <a:r>
              <a:rPr lang="en-US" dirty="0" smtClean="0"/>
              <a:t>a&lt;b in sorting algorithms).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cost model </a:t>
            </a:r>
            <a:r>
              <a:rPr lang="en-US" dirty="0" smtClean="0"/>
              <a:t>assigns weight w(n) </a:t>
            </a:r>
            <a:r>
              <a:rPr lang="en-US" dirty="0"/>
              <a:t>to some "expensive" </a:t>
            </a:r>
            <a:r>
              <a:rPr lang="en-US" dirty="0" smtClean="0"/>
              <a:t>operations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can be measured </a:t>
            </a:r>
            <a:r>
              <a:rPr lang="en-US" dirty="0" smtClean="0"/>
              <a:t>empirically </a:t>
            </a:r>
            <a:r>
              <a:rPr lang="en-US" dirty="0"/>
              <a:t>in </a:t>
            </a:r>
            <a:r>
              <a:rPr lang="en-US" dirty="0" smtClean="0"/>
              <a:t>units </a:t>
            </a:r>
            <a:r>
              <a:rPr lang="en-US" dirty="0"/>
              <a:t>such as microseconds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8666875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Worst-case input as "smoothing"</a:t>
            </a:r>
            <a:endParaRPr lang="lv-LV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smtClean="0"/>
                  <a:t>Example: </a:t>
                </a:r>
                <a:r>
                  <a:rPr lang="en-US" sz="2400" dirty="0" smtClean="0"/>
                  <a:t>Searching a word in a list of N=50000 words (linear search).</a:t>
                </a:r>
              </a:p>
              <a:p>
                <a:r>
                  <a:rPr lang="en-US" sz="2400" dirty="0" smtClean="0"/>
                  <a:t>1 operation in the </a:t>
                </a:r>
                <a:r>
                  <a:rPr lang="en-US" sz="2400" i="1" dirty="0" smtClean="0">
                    <a:solidFill>
                      <a:srgbClr val="0070C0"/>
                    </a:solidFill>
                  </a:rPr>
                  <a:t>best case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 smtClean="0"/>
                  <a:t> operations in the </a:t>
                </a:r>
                <a:r>
                  <a:rPr lang="en-US" sz="2400" i="1" dirty="0" smtClean="0">
                    <a:solidFill>
                      <a:srgbClr val="0070C0"/>
                    </a:solidFill>
                  </a:rPr>
                  <a:t>worst case</a:t>
                </a:r>
                <a:r>
                  <a:rPr lang="en-US" sz="2400" dirty="0" smtClean="0"/>
                  <a:t> – if the word is the last one (or not found)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2400" dirty="0" smtClean="0"/>
                  <a:t> operations on average (if a word is found). 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 smtClean="0"/>
                  <a:t> if word is in the list with probability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36" t="-1185" r="-2815" b="-592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 smtClean="0"/>
                  <a:t> we do not care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and about the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Why </a:t>
                </a:r>
                <a:r>
                  <a:rPr lang="en-US" i="1" dirty="0" smtClean="0">
                    <a:solidFill>
                      <a:srgbClr val="0070C0"/>
                    </a:solidFill>
                  </a:rPr>
                  <a:t>asymptotic</a:t>
                </a:r>
                <a:r>
                  <a:rPr lang="en-US" dirty="0" smtClean="0"/>
                  <a:t> bounds? Why short inputs do not matter?</a:t>
                </a:r>
              </a:p>
              <a:p>
                <a:r>
                  <a:rPr lang="en-US" dirty="0" smtClean="0"/>
                  <a:t>Why arbitrary constant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?</a:t>
                </a:r>
                <a:endParaRPr lang="lv-LV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48" t="-1630" r="-257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65295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Example</a:t>
            </a:r>
            <a:r>
              <a:rPr lang="en-US" dirty="0" smtClean="0"/>
              <a:t> 1</a:t>
            </a:r>
            <a:r>
              <a:rPr lang="lv-LV" dirty="0" smtClean="0"/>
              <a:t>: Recurrence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Algorithm subdivides the input into two parts and works on 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one part</a:t>
                </a:r>
                <a:r>
                  <a:rPr lang="en-US" dirty="0" smtClean="0"/>
                  <a:t> only.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The cost of subdividing is proportional to the input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</a:t>
                </a:r>
                <a:endParaRPr lang="lv-LV" dirty="0"/>
              </a:p>
              <a:p>
                <a:pPr marL="0" indent="0">
                  <a:buNone/>
                </a:pPr>
                <a:r>
                  <a:rPr lang="en-US" b="1" dirty="0" smtClean="0"/>
                  <a:t>Recurrence equation: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i="1" dirty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olidFill>
                      <a:srgbClr val="0033CC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 smtClean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(1)=0</m:t>
                    </m:r>
                  </m:oMath>
                </a14:m>
                <a:r>
                  <a:rPr lang="en-US" dirty="0" smtClean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Estimate: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about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49724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Example</a:t>
            </a:r>
            <a:r>
              <a:rPr lang="en-US" dirty="0" smtClean="0"/>
              <a:t> 2</a:t>
            </a:r>
            <a:r>
              <a:rPr lang="lv-LV" dirty="0" smtClean="0"/>
              <a:t>: Recurrence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Algorithm subdivides the input into two parts and works on 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both</a:t>
                </a:r>
                <a:r>
                  <a:rPr lang="en-US" dirty="0" smtClean="0"/>
                  <a:t> parts.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The cost of subdividing is proportional to the input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. </a:t>
                </a:r>
                <a:endParaRPr lang="lv-LV" dirty="0"/>
              </a:p>
              <a:p>
                <a:pPr marL="0" indent="0">
                  <a:buNone/>
                </a:pPr>
                <a:r>
                  <a:rPr lang="en-US" b="1" dirty="0" smtClean="0"/>
                  <a:t>Recurrence equation: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i="1" dirty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>
                    <a:solidFill>
                      <a:srgbClr val="0033CC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 smtClean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(1)=0</m:t>
                    </m:r>
                  </m:oMath>
                </a14:m>
                <a:r>
                  <a:rPr lang="en-US" dirty="0" smtClean="0">
                    <a:solidFill>
                      <a:srgbClr val="0033CC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Estimate: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Application:</a:t>
                </a:r>
                <a:r>
                  <a:rPr lang="en-US" dirty="0" smtClean="0"/>
                  <a:t> Sorting by </a:t>
                </a:r>
                <a:r>
                  <a:rPr lang="en-US" dirty="0" err="1" smtClean="0"/>
                  <a:t>MergeSort</a:t>
                </a:r>
                <a:r>
                  <a:rPr lang="en-US" dirty="0" smtClean="0"/>
                  <a:t>.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29328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Master Theorem: General Recurrence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b="1" dirty="0" smtClean="0"/>
                  <a:t>Theorem (CLR book; also </a:t>
                </a:r>
                <a:r>
                  <a:rPr lang="en-US" b="1" dirty="0"/>
                  <a:t>Jon Bentley, Dorothea Haken, </a:t>
                </a:r>
                <a:r>
                  <a:rPr lang="en-US" b="1" dirty="0" smtClean="0"/>
                  <a:t>James Saxe</a:t>
                </a:r>
                <a:r>
                  <a:rPr lang="lv-LV" b="1" dirty="0" smtClean="0"/>
                  <a:t>, 1980)</a:t>
                </a:r>
              </a:p>
              <a:p>
                <a:pPr marL="0" indent="0">
                  <a:buNone/>
                </a:pPr>
                <a:r>
                  <a:rPr lang="lv-LV" dirty="0" smtClean="0"/>
                  <a:t>For all integers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′≥0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lv-LV" dirty="0"/>
                      <m:t>−</m:t>
                    </m:r>
                    <m:r>
                      <a:rPr lang="lv-LV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lv-LV" dirty="0" smtClean="0"/>
                  <a:t>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lv-LV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⌊"/>
                          <m:endChr m:val="⌋"/>
                          <m:ctrlPr>
                            <a:rPr lang="lv-LV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−1</m:t>
                              </m:r>
                            </m:e>
                          </m:d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lv-LV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1) /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lv-LV" dirty="0" smtClean="0"/>
              </a:p>
              <a:p>
                <a:pPr marL="0" indent="0">
                  <a:buNone/>
                </a:pPr>
                <a:r>
                  <a:rPr lang="lv-LV" dirty="0" smtClean="0"/>
                  <a:t>The recurrent relation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lv-LV" dirty="0" smtClean="0"/>
                  <a:t>, if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   and  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lv-LV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  <m: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lv-LV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lv-LV" dirty="0" smtClean="0"/>
                  <a:t>, if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lv-LV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 has solution: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lv-LV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lv-LV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lv-LV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func>
                                  <m:funcPr>
                                    <m:ctrlP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  <m:brk m:alnAt="7"/>
                                          </m:rPr>
                                          <a:rPr lang="lv-LV" b="0" i="0" smtClean="0">
                                            <a:latin typeface="Cambria Math" panose="02040503050406030204" pitchFamily="18" charset="0"/>
                                          </a:rPr>
                                          <m:t>l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lv-LV" b="0" i="0" smtClean="0">
                                            <a:latin typeface="Cambria Math" panose="02040503050406030204" pitchFamily="18" charset="0"/>
                                          </a:rPr>
                                          <m:t>og</m:t>
                                        </m:r>
                                      </m:e>
                                      <m:sub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lv-LV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lv-LV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lv-LV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lv-LV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p>
                                    </m:sSup>
                                    <m:r>
                                      <a:rPr lang="lv-LV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func>
                                      <m:func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lv-LV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lv-LV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lv-LV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func>
                                          <m:funcPr>
                                            <m:ctrlPr>
                                              <a:rPr lang="lv-LV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lv-LV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lv-LV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lv-LV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r>
                                              <a:rPr lang="lv-LV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func>
                                      </m:sup>
                                    </m:sSup>
                                  </m:e>
                                </m:d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lv-LV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func>
                                  <m:funcPr>
                                    <m:ctrlP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lv-LV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lv-LV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lv-LV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r>
                                  <a:rPr lang="lv-LV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389851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Notation in Master's Theorem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 smtClean="0"/>
                  <a:t> – the size of problem</a:t>
                </a:r>
                <a:endParaRPr lang="lv-LV" dirty="0"/>
              </a:p>
              <a:p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lv-LV" dirty="0" smtClean="0"/>
                  <a:t> – time required for small (indivisible) subproblems.</a:t>
                </a:r>
              </a:p>
              <a:p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lv-LV" dirty="0" smtClean="0"/>
                  <a:t>– the number of subproblems.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lv-LV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/>
                  <a:t> </a:t>
                </a:r>
                <a:r>
                  <a:rPr lang="lv-LV" dirty="0" smtClean="0"/>
                  <a:t>– the size of subproblems</a:t>
                </a:r>
                <a:endParaRPr lang="lv-LV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lv-LV" dirty="0" smtClean="0"/>
                  <a:t> – time required to combine the results of subproblems.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785268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Analysis is about Growth Order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sz="2400" dirty="0" smtClean="0"/>
                  <a:t>The </a:t>
                </a:r>
                <a:r>
                  <a:rPr lang="en-US" sz="2400" b="1" i="1" dirty="0" smtClean="0">
                    <a:solidFill>
                      <a:srgbClr val="0070C0"/>
                    </a:solidFill>
                  </a:rPr>
                  <a:t>growth order  </a:t>
                </a:r>
                <a:r>
                  <a:rPr lang="en-US" sz="2400" dirty="0" smtClean="0"/>
                  <a:t>(</a:t>
                </a:r>
                <a:r>
                  <a:rPr lang="el-GR" sz="2400" dirty="0" smtClean="0"/>
                  <a:t>Θ</a:t>
                </a:r>
                <a:r>
                  <a:rPr lang="en-US" sz="2400" dirty="0" smtClean="0"/>
                  <a:t>, not O)</a:t>
                </a:r>
                <a:r>
                  <a:rPr lang="en-US" sz="2400" dirty="0" smtClean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 smtClean="0"/>
                  <a:t>of a function determines what running time is needed to run some algorithm. </a:t>
                </a:r>
                <a:endParaRPr lang="lv-LV" sz="2400" dirty="0"/>
              </a:p>
              <a:p>
                <a:r>
                  <a:rPr lang="en-US" sz="2400" dirty="0" smtClean="0"/>
                  <a:t>Usually it is written simply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 smtClean="0"/>
                  <a:t>, that is also named the asymptotic complexity.</a:t>
                </a:r>
              </a:p>
              <a:p>
                <a:r>
                  <a:rPr lang="en-US" sz="2400" dirty="0" smtClean="0"/>
                  <a:t>Mathematically, this is imprecise: We need the </a:t>
                </a:r>
                <a:r>
                  <a:rPr lang="en-US" sz="2400" b="1" i="1" dirty="0" smtClean="0">
                    <a:solidFill>
                      <a:srgbClr val="0070C0"/>
                    </a:solidFill>
                  </a:rPr>
                  <a:t>slowest growing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lv-LV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 dirty="0" smtClean="0"/>
                  <a:t>.</a:t>
                </a:r>
                <a:endParaRPr lang="lv-LV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591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smtClean="0"/>
                  <a:t>Common usage:</a:t>
                </a:r>
              </a:p>
              <a:p>
                <a:r>
                  <a:rPr lang="en-US" sz="2400" dirty="0" err="1" smtClean="0"/>
                  <a:t>BubbleSort</a:t>
                </a:r>
                <a:r>
                  <a:rPr lang="en-US" sz="2400" dirty="0" smtClean="0"/>
                  <a:t> time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rgbClr val="0033CC"/>
                  </a:solidFill>
                </a:endParaRPr>
              </a:p>
              <a:p>
                <a:r>
                  <a:rPr lang="en-US" sz="2400" dirty="0" err="1" smtClean="0"/>
                  <a:t>MergeSort</a:t>
                </a:r>
                <a:r>
                  <a:rPr lang="en-US" sz="2400" dirty="0" smtClean="0"/>
                  <a:t> time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 smtClean="0"/>
                  <a:t>In fact, </a:t>
                </a:r>
                <a:r>
                  <a:rPr lang="en-US" sz="2400" dirty="0" err="1" smtClean="0"/>
                  <a:t>MergeSort</a:t>
                </a:r>
                <a:r>
                  <a:rPr lang="en-US" sz="2400" dirty="0" smtClean="0"/>
                  <a:t> is also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sz="2400" b="1" dirty="0" smtClean="0"/>
                  <a:t>Formally,</a:t>
                </a:r>
                <a:r>
                  <a:rPr lang="en-US" sz="2400" dirty="0" smtClean="0"/>
                  <a:t> much more useful is statement would be that </a:t>
                </a:r>
                <a:r>
                  <a:rPr lang="en-US" sz="2400" dirty="0" err="1" smtClean="0"/>
                  <a:t>MergeSort</a:t>
                </a:r>
                <a:r>
                  <a:rPr lang="en-US" sz="2400" dirty="0" smtClean="0"/>
                  <a:t> runtime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400" dirty="0" smtClean="0">
                        <a:solidFill>
                          <a:srgbClr val="0033CC"/>
                        </a:solidFill>
                      </a:rPr>
                      <m:t>Θ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en-US" sz="2400" i="1" dirty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dirty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i="1" dirty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 smtClean="0"/>
                  <a:t>.</a:t>
                </a:r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lv-LV" sz="24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36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 bwMode="auto">
          <a:xfrm>
            <a:off x="6622392" y="4727028"/>
            <a:ext cx="4960007" cy="1673772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Typically, </a:t>
            </a:r>
            <a:r>
              <a:rPr lang="el-GR" dirty="0" smtClean="0"/>
              <a:t>Θ</a:t>
            </a:r>
            <a:r>
              <a:rPr lang="en-US" dirty="0" smtClean="0"/>
              <a:t> is usually not written. Using </a:t>
            </a:r>
            <a:r>
              <a:rPr lang="el-GR" dirty="0" smtClean="0"/>
              <a:t>Θ</a:t>
            </a:r>
            <a:r>
              <a:rPr lang="en-US" dirty="0" smtClean="0"/>
              <a:t> would imply am obligation to prove </a:t>
            </a:r>
            <a:r>
              <a:rPr lang="en-US" b="1" dirty="0" smtClean="0"/>
              <a:t>two</a:t>
            </a:r>
            <a:r>
              <a:rPr lang="en-US" dirty="0" smtClean="0"/>
              <a:t> inequalities.</a:t>
            </a:r>
          </a:p>
          <a:p>
            <a:pPr eaLnBrk="1" hangingPunct="1"/>
            <a:r>
              <a:rPr lang="en-US" dirty="0" smtClean="0"/>
              <a:t>Using O is the lazy way.</a:t>
            </a:r>
            <a:endParaRPr kumimoji="0" lang="lv-LV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31495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Big-O Notation is </a:t>
            </a:r>
            <a:r>
              <a:rPr lang="en-US" dirty="0" smtClean="0"/>
              <a:t>Often </a:t>
            </a:r>
            <a:r>
              <a:rPr lang="en-US" dirty="0" smtClean="0"/>
              <a:t>Sloppy?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sz="2400" dirty="0" smtClean="0"/>
                  <a:t>In mathematics e</a:t>
                </a:r>
                <a:r>
                  <a:rPr lang="en-US" sz="2400" dirty="0" err="1" smtClean="0"/>
                  <a:t>quals</a:t>
                </a:r>
                <a:r>
                  <a:rPr lang="en-US" sz="2400" dirty="0" smtClean="0"/>
                  <a:t> (=) usually denotes an </a:t>
                </a:r>
                <a:r>
                  <a:rPr lang="en-US" sz="2400" b="1" i="1" dirty="0" smtClean="0">
                    <a:solidFill>
                      <a:srgbClr val="0070C0"/>
                    </a:solidFill>
                  </a:rPr>
                  <a:t>equivalence relation</a:t>
                </a:r>
                <a:r>
                  <a:rPr lang="en-US" sz="24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 smtClean="0"/>
                  <a:t>. </a:t>
                </a:r>
              </a:p>
              <a:p>
                <a:r>
                  <a:rPr lang="en-US" sz="2400" dirty="0" smtClean="0"/>
                  <a:t>Does this mean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 ?</a:t>
                </a:r>
                <a:endParaRPr lang="lv-LV" sz="2400" dirty="0" smtClean="0"/>
              </a:p>
              <a:p>
                <a:endParaRPr lang="lv-LV" sz="2400" dirty="0"/>
              </a:p>
              <a:p>
                <a:r>
                  <a:rPr lang="lv-LV" sz="2400" dirty="0" smtClean="0"/>
                  <a:t>Can also say: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lv-LV" sz="2400" dirty="0" smtClean="0"/>
                  <a:t> </a:t>
                </a:r>
                <a:r>
                  <a:rPr lang="lv-LV" sz="2400" b="1" dirty="0" smtClean="0"/>
                  <a:t>is</a:t>
                </a:r>
                <a:r>
                  <a:rPr lang="lv-LV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36" t="-1185" r="-1469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sz="2400" dirty="0" smtClean="0"/>
                  <a:t>Would it be better to write </a:t>
                </a:r>
                <a:br>
                  <a:rPr lang="en-US" sz="2400" dirty="0" smtClean="0"/>
                </a:b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l-GR" sz="2400" dirty="0"/>
                      <m:t>Θ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 smtClean="0"/>
                  <a:t> ? </a:t>
                </a:r>
                <a:endParaRPr lang="en-US" sz="2400" dirty="0"/>
              </a:p>
              <a:p>
                <a:r>
                  <a:rPr lang="lv-LV" sz="2400" dirty="0" smtClean="0"/>
                  <a:t>B</a:t>
                </a:r>
                <a:r>
                  <a:rPr lang="en-US" sz="2400" dirty="0" err="1" smtClean="0"/>
                  <a:t>ut</a:t>
                </a:r>
                <a:r>
                  <a:rPr lang="en-US" sz="2400" dirty="0" smtClean="0"/>
                  <a:t> what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? ("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 smtClean="0"/>
                  <a:t>" and "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 smtClean="0"/>
                  <a:t>" denote </a:t>
                </a:r>
                <a:r>
                  <a:rPr lang="en-US" sz="2400" b="1" i="1" dirty="0" smtClean="0">
                    <a:solidFill>
                      <a:srgbClr val="0070C0"/>
                    </a:solidFill>
                  </a:rPr>
                  <a:t>values</a:t>
                </a:r>
                <a:r>
                  <a:rPr lang="en-US" sz="2400" dirty="0" smtClean="0"/>
                  <a:t>, not functions.)</a:t>
                </a:r>
              </a:p>
              <a:p>
                <a:pPr marL="0" indent="0">
                  <a:buNone/>
                </a:pPr>
                <a:endParaRPr lang="lv-LV" sz="2400" dirty="0" smtClean="0"/>
              </a:p>
              <a:p>
                <a:pPr marL="0" indent="0">
                  <a:buNone/>
                </a:pPr>
                <a:r>
                  <a:rPr lang="lv-LV" sz="2400" dirty="0" smtClean="0"/>
                  <a:t>A mathematical</a:t>
                </a:r>
                <a:r>
                  <a:rPr lang="en-US" sz="2400" dirty="0" smtClean="0"/>
                  <a:t> notation would be: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l-GR" sz="2400" dirty="0"/>
                        <m:t>Θ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1" dirty="0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dirty="0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lv-LV" sz="2400" dirty="0" smtClean="0"/>
                  <a:t>Anonymous function (lambda) notation. </a:t>
                </a:r>
                <a:r>
                  <a:rPr lang="en-US" sz="2400" i="1" dirty="0" smtClean="0"/>
                  <a:t>(Nobody writes like this.)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36" t="-1185" r="-208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814560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Waiting Times and </a:t>
            </a:r>
            <a:r>
              <a:rPr lang="en-US" dirty="0" err="1" smtClean="0"/>
              <a:t>Asymptotics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 smtClean="0"/>
                  <a:t>1 </a:t>
                </a:r>
                <a:r>
                  <a:rPr lang="en-US" dirty="0" smtClean="0"/>
                  <a:t>operation is </a:t>
                </a:r>
                <a:r>
                  <a:rPr lang="lv-LV" dirty="0" smtClean="0"/>
                  <a:t>1 nanose</a:t>
                </a:r>
                <a:r>
                  <a:rPr lang="en-US" dirty="0" err="1" smtClean="0"/>
                  <a:t>cond</a:t>
                </a:r>
                <a:r>
                  <a:rPr lang="en-US" dirty="0" smtClean="0"/>
                  <a:t> </a:t>
                </a:r>
                <a:r>
                  <a:rPr lang="lv-LV" dirty="0" smtClean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lv-LV" dirty="0"/>
                  <a:t> </a:t>
                </a:r>
                <a:r>
                  <a:rPr lang="en-US" dirty="0" smtClean="0"/>
                  <a:t>s</a:t>
                </a:r>
                <a:r>
                  <a:rPr lang="lv-LV" dirty="0" smtClean="0"/>
                  <a:t>)</a:t>
                </a:r>
                <a:r>
                  <a:rPr lang="en-US" dirty="0" smtClean="0"/>
                  <a:t>. 1</a:t>
                </a:r>
                <a:r>
                  <a:rPr lang="en-US" b="1" dirty="0" smtClean="0"/>
                  <a:t> </a:t>
                </a:r>
                <a:r>
                  <a:rPr lang="el-GR" dirty="0"/>
                  <a:t>μ</a:t>
                </a:r>
                <a:r>
                  <a:rPr lang="lv-LV" dirty="0" smtClean="0"/>
                  <a:t>s</a:t>
                </a:r>
                <a:r>
                  <a:rPr lang="en-US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 smtClean="0"/>
                  <a:t> s. </a:t>
                </a:r>
                <a:r>
                  <a:rPr lang="en-US" dirty="0"/>
                  <a:t>1</a:t>
                </a:r>
                <a:r>
                  <a:rPr lang="en-US" b="1" dirty="0"/>
                  <a:t> </a:t>
                </a:r>
                <a:r>
                  <a:rPr lang="en-US" dirty="0"/>
                  <a:t>m</a:t>
                </a:r>
                <a:r>
                  <a:rPr lang="lv-LV" dirty="0" smtClean="0"/>
                  <a:t>s</a:t>
                </a:r>
                <a:r>
                  <a:rPr lang="en-US" dirty="0" smtClean="0"/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s. 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2362200"/>
            <a:ext cx="1019175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9728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Various Exponent Functions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b="1" dirty="0" smtClean="0"/>
                  <a:t>Problem. </a:t>
                </a:r>
                <a:r>
                  <a:rPr lang="lv-LV" dirty="0" smtClean="0"/>
                  <a:t>Given functions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lv-LV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lv-LV" dirty="0"/>
                  <a:t>, </a:t>
                </a:r>
                <a:r>
                  <a:rPr lang="lv-LV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lv-LV" dirty="0"/>
                  <a:t>, </a:t>
                </a:r>
                <a:r>
                  <a:rPr lang="lv-LV" dirty="0" smtClean="0"/>
                  <a:t>test if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is in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and also in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 smtClean="0"/>
                  <a:t>. </a:t>
                </a:r>
                <a:br>
                  <a:rPr lang="lv-LV" dirty="0" smtClean="0"/>
                </a:br>
                <a:r>
                  <a:rPr lang="lv-LV" dirty="0"/>
                  <a:t>U</a:t>
                </a:r>
                <a:r>
                  <a:rPr lang="lv-LV" dirty="0" smtClean="0"/>
                  <a:t>se the definition of </a:t>
                </a:r>
                <a:r>
                  <a:rPr lang="lv-LV" dirty="0"/>
                  <a:t>Big-O </a:t>
                </a:r>
                <a:r>
                  <a:rPr lang="lv-LV" dirty="0" smtClean="0"/>
                  <a:t/>
                </a:r>
                <a:br>
                  <a:rPr lang="lv-LV" dirty="0" smtClean="0"/>
                </a:br>
                <a:r>
                  <a:rPr lang="lv-LV" dirty="0" smtClean="0"/>
                  <a:t>Namely: Do </a:t>
                </a:r>
                <a:r>
                  <a:rPr lang="lv-LV" dirty="0"/>
                  <a:t>there exist constants 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lv-LV" dirty="0"/>
                  <a:t>  </a:t>
                </a:r>
                <a:r>
                  <a:rPr lang="lv-LV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 as in the definition?</a:t>
                </a:r>
                <a:endParaRPr lang="lv-LV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8238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Various Exponent </a:t>
            </a:r>
            <a:r>
              <a:rPr lang="lv-LV" dirty="0" smtClean="0"/>
              <a:t>Functions: Solution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dirty="0" smtClean="0"/>
                  <a:t>We imagine that a player "Alice" chooses all existential quantifiers, but player "Bob" chooses all universal quantifiers from the formal definition.</a:t>
                </a:r>
              </a:p>
              <a:p>
                <a:pPr marL="0" indent="0">
                  <a:buNone/>
                </a:pPr>
                <a:r>
                  <a:rPr lang="lv-LV" b="1" dirty="0" smtClean="0"/>
                  <a:t>Claim 1: </a:t>
                </a:r>
                <a:r>
                  <a:rPr lang="lv-LV" dirty="0"/>
                  <a:t>The function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lv-LV" dirty="0"/>
                  <a:t> is in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. To prove that </a:t>
                </a:r>
                <a:r>
                  <a:rPr lang="lv-LV" dirty="0" smtClean="0"/>
                  <a:t> </a:t>
                </a:r>
                <a14:m>
                  <m:oMath xmlns:m="http://schemas.openxmlformats.org/officeDocument/2006/math">
                    <m:r>
                      <a:rPr lang="lv-LV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lv-LV" dirty="0"/>
                  <a:t> is in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lv-LV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lv-LV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lv-LV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lv-LV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lv-LV" dirty="0" smtClean="0"/>
                  <a:t>,  </a:t>
                </a:r>
                <a:r>
                  <a:rPr lang="lv-LV" dirty="0"/>
                  <a:t>Alice can take in the Big-O notation </a:t>
                </a:r>
                <a:br>
                  <a:rPr lang="lv-LV" dirty="0"/>
                </a:br>
                <a:r>
                  <a:rPr lang="lv-LV" dirty="0"/>
                  <a:t>definition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/>
                  <a:t> 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/>
                  <a:t>. Then for any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 smtClean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v-LV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lv-LV" dirty="0" smtClean="0"/>
                  <a:t> selected by Bob:</a:t>
                </a:r>
                <a:br>
                  <a:rPr lang="lv-LV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lv-LV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lv-LV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1∙</m:t>
                      </m:r>
                      <m:d>
                        <m:dPr>
                          <m:begChr m:val="|"/>
                          <m:endChr m:val="|"/>
                          <m:ctrlP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lv-LV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lv-LV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lv-LV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v-LV" dirty="0" smtClean="0"/>
              </a:p>
              <a:p>
                <a:pPr marL="0" indent="0">
                  <a:buNone/>
                </a:pPr>
                <a:r>
                  <a:rPr lang="lv-LV" b="1" dirty="0"/>
                  <a:t>Claim </a:t>
                </a:r>
                <a:r>
                  <a:rPr lang="lv-LV" b="1" dirty="0" smtClean="0"/>
                  <a:t>2: </a:t>
                </a:r>
                <a:r>
                  <a:rPr lang="lv-LV" dirty="0"/>
                  <a:t>The function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smtClean="0"/>
                  <a:t>is not </a:t>
                </a:r>
                <a:r>
                  <a:rPr lang="lv-LV" dirty="0"/>
                  <a:t>in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.</a:t>
                </a:r>
                <a:r>
                  <a:rPr lang="lv-LV" dirty="0" smtClean="0"/>
                  <a:t> No matter what are the chosen numbers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lv-LV" dirty="0"/>
                  <a:t>  </a:t>
                </a:r>
                <a:r>
                  <a:rPr lang="lv-LV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v-LV" dirty="0" smtClean="0"/>
                  <a:t>, consider n that is sufficiently large.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9194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Comparing Big-O Sets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lv-LV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lv-LV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lv-LV" i="1" dirty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r>
                              <a:rPr lang="lv-LV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!)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63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For each pair of Big-O notations decide, if the left-side class of functions is larger than the right-side class.</a:t>
            </a:r>
            <a:r>
              <a:rPr lang="lv-LV" sz="2400" dirty="0" smtClean="0"/>
              <a:t> Or a</a:t>
            </a:r>
            <a:r>
              <a:rPr lang="en-US" sz="2400" dirty="0" smtClean="0"/>
              <a:t>re they equal? </a:t>
            </a:r>
            <a:br>
              <a:rPr lang="en-US" sz="2400" dirty="0" smtClean="0"/>
            </a:br>
            <a:endParaRPr lang="lv-LV" sz="2400" dirty="0"/>
          </a:p>
        </p:txBody>
      </p:sp>
    </p:spTree>
    <p:extLst>
      <p:ext uri="{BB962C8B-B14F-4D97-AF65-F5344CB8AC3E}">
        <p14:creationId xmlns:p14="http://schemas.microsoft.com/office/powerpoint/2010/main" val="174869916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Comparing Big-O </a:t>
            </a:r>
            <a:r>
              <a:rPr lang="lv-LV" dirty="0" smtClean="0"/>
              <a:t>Sets: Solution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lv-LV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lv-LV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lv-LV" i="1" dirty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r>
                              <a:rPr lang="lv-LV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!)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63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lphaUcPeriod"/>
                </a:pPr>
                <a:r>
                  <a:rPr lang="lv-LV" dirty="0" smtClean="0"/>
                  <a:t>Both sets are equal (since both logarithms differ by a constant factor. </a:t>
                </a:r>
              </a:p>
              <a:p>
                <a:pPr marL="514350" indent="-514350">
                  <a:buFont typeface="+mj-lt"/>
                  <a:buAutoNum type="alphaUcPeriod"/>
                </a:pPr>
                <a:r>
                  <a:rPr lang="lv-LV" dirty="0" smtClean="0"/>
                  <a:t>The second function class is larger. 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 smtClean="0"/>
                  <a:t> contains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 smtClean="0"/>
                  <a:t>, but they are not equal.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!)</m:t>
                    </m:r>
                  </m:oMath>
                </a14:m>
                <a:r>
                  <a:rPr lang="lv-LV" dirty="0" smtClean="0"/>
                  <a:t> contains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 smtClean="0"/>
                  <a:t>, but not vice versa.</a:t>
                </a:r>
              </a:p>
              <a:p>
                <a:pPr marL="514350" indent="-514350">
                  <a:buFont typeface="+mj-lt"/>
                  <a:buAutoNum type="alphaUcPeriod"/>
                </a:pPr>
                <a:r>
                  <a:rPr lang="lv-LV" dirty="0" smtClean="0"/>
                  <a:t>Both sets are equal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203" t="-1630" b="-18222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082841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Doubling Input Length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lv-LV" dirty="0" smtClean="0"/>
                  <a:t>If the input length increases twice, the run-time increases by 17. </a:t>
                </a:r>
                <a:br>
                  <a:rPr lang="lv-LV" dirty="0" smtClean="0"/>
                </a:br>
                <a:r>
                  <a:rPr lang="lv-LV" dirty="0" smtClean="0"/>
                  <a:t>T(2n) = T(n) + 17.</a:t>
                </a:r>
                <a:r>
                  <a:rPr lang="lv-LV" dirty="0"/>
                  <a:t> </a:t>
                </a:r>
                <a:r>
                  <a:rPr lang="lv-LV" dirty="0" smtClean="0"/>
                  <a:t> Find an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 smtClean="0"/>
                  <a:t> when this can be true.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 smtClean="0"/>
                  <a:t>If the input length increaes twice, the run-time increases two times. </a:t>
                </a:r>
                <a:br>
                  <a:rPr lang="lv-LV" dirty="0" smtClean="0"/>
                </a:br>
                <a:r>
                  <a:rPr lang="lv-LV" dirty="0" smtClean="0"/>
                  <a:t>T(2n) = 2T(n).     Find </a:t>
                </a:r>
                <a:r>
                  <a:rPr lang="lv-LV" dirty="0"/>
                  <a:t>an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smtClean="0"/>
                  <a:t>when </a:t>
                </a:r>
                <a:r>
                  <a:rPr lang="lv-LV" dirty="0"/>
                  <a:t>this can be true. </a:t>
                </a:r>
                <a:endParaRPr lang="lv-LV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</a:t>
                </a:r>
                <a:r>
                  <a:rPr lang="lv-LV" dirty="0" smtClean="0"/>
                  <a:t>four times.</a:t>
                </a:r>
                <a:br>
                  <a:rPr lang="lv-LV" dirty="0" smtClean="0"/>
                </a:br>
                <a:r>
                  <a:rPr lang="lv-LV" dirty="0" smtClean="0"/>
                  <a:t>T(2n) = 4T(n).     Find </a:t>
                </a:r>
                <a:r>
                  <a:rPr lang="lv-LV" dirty="0"/>
                  <a:t>an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 </a:t>
                </a:r>
                <a:r>
                  <a:rPr lang="lv-LV" dirty="0" smtClean="0"/>
                  <a:t>when </a:t>
                </a:r>
                <a:r>
                  <a:rPr lang="lv-LV" dirty="0"/>
                  <a:t>this can be true. </a:t>
                </a:r>
                <a:endParaRPr lang="lv-LV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/>
                  <a:t>If the input length increaes twice, the run-time increases </a:t>
                </a:r>
                <a:r>
                  <a:rPr lang="lv-LV" dirty="0" smtClean="0"/>
                  <a:t>three </a:t>
                </a:r>
                <a:r>
                  <a:rPr lang="lv-LV" dirty="0"/>
                  <a:t>times.</a:t>
                </a:r>
                <a:br>
                  <a:rPr lang="lv-LV" dirty="0"/>
                </a:br>
                <a:r>
                  <a:rPr lang="lv-LV" dirty="0" smtClean="0"/>
                  <a:t>T(2n) = 3T(n).     Find </a:t>
                </a:r>
                <a:r>
                  <a:rPr lang="lv-LV" dirty="0"/>
                  <a:t>an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 when this can be true.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lv-LV" dirty="0" smtClean="0"/>
                  <a:t>If the input length increases twice, the run-time is squared. </a:t>
                </a:r>
                <a:br>
                  <a:rPr lang="lv-LV" dirty="0" smtClean="0"/>
                </a:b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lv-LV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lv-LV" dirty="0" smtClean="0"/>
                  <a:t> .   Find </a:t>
                </a:r>
                <a:r>
                  <a:rPr lang="lv-LV" dirty="0"/>
                  <a:t>an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dirty="0"/>
                  <a:t> when this can be true.</a:t>
                </a:r>
                <a:endParaRPr lang="lv-LV" dirty="0" smtClean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0" t="-1185" b="-1481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987530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 vs. Binary Algorithms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1422400" y="1752601"/>
                <a:ext cx="10160000" cy="10032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lv-LV" sz="2000" dirty="0" smtClean="0"/>
                  <a:t>There is a</a:t>
                </a:r>
                <a:r>
                  <a:rPr lang="en-US" sz="2000" dirty="0" smtClean="0"/>
                  <a:t> black box that computes some O(f(n)) algorithm with decimal input. </a:t>
                </a:r>
                <a:br>
                  <a:rPr lang="en-US" sz="2000" dirty="0" smtClean="0"/>
                </a:br>
                <a:r>
                  <a:rPr lang="en-US" sz="2000" dirty="0" smtClean="0"/>
                  <a:t>A computer scientist Joe claims that he can input </a:t>
                </a:r>
                <a:r>
                  <a:rPr lang="lv-LV" sz="2000" dirty="0" smtClean="0"/>
                  <a:t>a </a:t>
                </a:r>
                <a:r>
                  <a:rPr lang="en-US" sz="2000" dirty="0" smtClean="0"/>
                  <a:t>binary number, convert into decimal, then </a:t>
                </a:r>
                <a:r>
                  <a:rPr lang="lv-LV" sz="2000" dirty="0" smtClean="0"/>
                  <a:t>run </a:t>
                </a:r>
                <a:r>
                  <a:rPr lang="en-US" sz="2000" dirty="0" smtClean="0"/>
                  <a:t>the "black box". </a:t>
                </a:r>
                <a:r>
                  <a:rPr lang="lv-LV" sz="2000" dirty="0"/>
                  <a:t> </a:t>
                </a:r>
                <a:r>
                  <a:rPr lang="lv-LV" sz="2000" dirty="0" smtClean="0"/>
                  <a:t>Joe</a:t>
                </a:r>
                <a:r>
                  <a:rPr lang="en-US" sz="2000" dirty="0" smtClean="0"/>
                  <a:t> claims that the new </a:t>
                </a:r>
                <a:r>
                  <a:rPr lang="lv-LV" sz="2000" dirty="0" smtClean="0"/>
                  <a:t>algorithm</a:t>
                </a:r>
                <a:r>
                  <a:rPr lang="en-US" sz="2000" dirty="0" smtClean="0"/>
                  <a:t> has </a:t>
                </a:r>
                <a:r>
                  <a:rPr lang="lv-LV" sz="2000" dirty="0" smtClean="0"/>
                  <a:t>same </a:t>
                </a:r>
                <a:r>
                  <a:rPr lang="en-US" sz="2000" dirty="0" smtClean="0"/>
                  <a:t>complexity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lv-LV" sz="2000" dirty="0" smtClean="0"/>
                  <a:t>. Is he right?</a:t>
                </a:r>
                <a:endParaRPr lang="en-US" sz="2000" dirty="0" smtClean="0"/>
              </a:p>
              <a:p>
                <a:endParaRPr lang="lv-LV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2400" y="1752601"/>
                <a:ext cx="10160000" cy="1003287"/>
              </a:xfrm>
              <a:blipFill>
                <a:blip r:embed="rId3"/>
                <a:stretch>
                  <a:fillRect l="-600" t="-3659" r="-180" b="-1097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 bwMode="auto">
          <a:xfrm>
            <a:off x="2480617" y="3927902"/>
            <a:ext cx="14478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46771" y="2847179"/>
                <a:ext cx="222580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 dirty="0" smtClean="0">
                    <a:latin typeface="+mj-lt"/>
                  </a:rPr>
                  <a:t>Complexity of the </a:t>
                </a:r>
                <a:br>
                  <a:rPr lang="en-US" sz="2000" i="1" dirty="0" smtClean="0">
                    <a:latin typeface="+mj-lt"/>
                  </a:rPr>
                </a:br>
                <a:r>
                  <a:rPr lang="en-US" sz="2000" i="1" dirty="0" smtClean="0">
                    <a:latin typeface="+mj-lt"/>
                  </a:rPr>
                  <a:t>black box: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lv-LV" sz="2000" i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771" y="2847179"/>
                <a:ext cx="2225802" cy="707886"/>
              </a:xfrm>
              <a:prstGeom prst="rect">
                <a:avLst/>
              </a:prstGeom>
              <a:blipFill>
                <a:blip r:embed="rId4"/>
                <a:stretch>
                  <a:fillRect l="-3014" t="-4310" r="-274" b="-1465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endCxn id="7" idx="1"/>
          </p:cNvCxnSpPr>
          <p:nvPr/>
        </p:nvCxnSpPr>
        <p:spPr bwMode="auto">
          <a:xfrm>
            <a:off x="1185217" y="4613702"/>
            <a:ext cx="1295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3928417" y="4613702"/>
            <a:ext cx="1295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980930" y="4231370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/>
              <a:t>Decimal input</a:t>
            </a:r>
            <a:endParaRPr lang="lv-LV" sz="18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4068230" y="4625676"/>
            <a:ext cx="194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/>
              <a:t>Some output</a:t>
            </a:r>
          </a:p>
          <a:p>
            <a:r>
              <a:rPr lang="en-US" sz="1800" i="1" dirty="0" smtClean="0"/>
              <a:t>(Yes/No or similar)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8752490" y="3730236"/>
            <a:ext cx="1447800" cy="13716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7162800" y="4131016"/>
            <a:ext cx="1219200" cy="974384"/>
          </a:xfrm>
          <a:prstGeom prst="roundRect">
            <a:avLst>
              <a:gd name="adj" fmla="val 2172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Convert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 from binary to decimal</a:t>
            </a:r>
            <a:endParaRPr kumimoji="0" lang="lv-LV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6928945" y="3429000"/>
            <a:ext cx="3429000" cy="19812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2133600" y="3544104"/>
            <a:ext cx="2052145" cy="186609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10150366" y="4417426"/>
            <a:ext cx="1295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5896761" y="4428530"/>
            <a:ext cx="1295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5666202" y="3960626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/>
              <a:t>Binary input</a:t>
            </a:r>
            <a:endParaRPr lang="lv-LV" sz="1800" i="1" dirty="0"/>
          </a:p>
        </p:txBody>
      </p:sp>
      <p:cxnSp>
        <p:nvCxnSpPr>
          <p:cNvPr id="26" name="Straight Arrow Connector 25"/>
          <p:cNvCxnSpPr>
            <a:endCxn id="16" idx="1"/>
          </p:cNvCxnSpPr>
          <p:nvPr/>
        </p:nvCxnSpPr>
        <p:spPr bwMode="auto">
          <a:xfrm flipV="1">
            <a:off x="8382000" y="4416036"/>
            <a:ext cx="3704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4467"/>
                  </p:ext>
                </p:extLst>
              </p:nvPr>
            </p:nvGraphicFramePr>
            <p:xfrm>
              <a:off x="2163292" y="5676082"/>
              <a:ext cx="8678215" cy="7427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39745">
                      <a:extLst>
                        <a:ext uri="{9D8B030D-6E8A-4147-A177-3AD203B41FA5}">
                          <a16:colId xmlns:a16="http://schemas.microsoft.com/office/drawing/2014/main" val="3543178195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1414301994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932330204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266812928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97733870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3661329227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3935846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lv-LV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lv-LV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lv-LV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func>
                                  <m:func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!)</m:t>
                                </m:r>
                              </m:oMath>
                            </m:oMathPara>
                          </a14:m>
                          <a:endParaRPr lang="lv-LV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76995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True/False?</a:t>
                          </a:r>
                          <a:endParaRPr lang="lv-LV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480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64467"/>
                  </p:ext>
                </p:extLst>
              </p:nvPr>
            </p:nvGraphicFramePr>
            <p:xfrm>
              <a:off x="2163292" y="5676082"/>
              <a:ext cx="8678215" cy="7427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39745">
                      <a:extLst>
                        <a:ext uri="{9D8B030D-6E8A-4147-A177-3AD203B41FA5}">
                          <a16:colId xmlns:a16="http://schemas.microsoft.com/office/drawing/2014/main" val="3543178195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1414301994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932330204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266812928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97733870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3661329227"/>
                        </a:ext>
                      </a:extLst>
                    </a:gridCol>
                    <a:gridCol w="1239745">
                      <a:extLst>
                        <a:ext uri="{9D8B030D-6E8A-4147-A177-3AD203B41FA5}">
                          <a16:colId xmlns:a16="http://schemas.microsoft.com/office/drawing/2014/main" val="2393584640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490" t="-1639" r="-60049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100985" t="-1639" r="-503448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639" r="-400980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301478" t="-1639" r="-302956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399510" t="-1639" r="-201471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501970" t="-1639" r="-102463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>
                        <a:blipFill>
                          <a:blip r:embed="rId5"/>
                          <a:stretch>
                            <a:fillRect l="-599020" t="-1639" r="-1961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6995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True/False?</a:t>
                          </a:r>
                          <a:endParaRPr lang="lv-LV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v-LV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94804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/>
          <p:cNvSpPr txBox="1"/>
          <p:nvPr/>
        </p:nvSpPr>
        <p:spPr>
          <a:xfrm>
            <a:off x="10200290" y="4477152"/>
            <a:ext cx="194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/>
              <a:t>Some output</a:t>
            </a:r>
          </a:p>
          <a:p>
            <a:r>
              <a:rPr lang="en-US" sz="1800" i="1" dirty="0" smtClean="0"/>
              <a:t>(Yes/No or similar)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400" y="2814005"/>
            <a:ext cx="21547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>
                <a:latin typeface="+mj-lt"/>
              </a:rPr>
              <a:t>Complexity of the </a:t>
            </a:r>
            <a:br>
              <a:rPr lang="en-US" sz="2000" i="1" dirty="0" smtClean="0">
                <a:latin typeface="+mj-lt"/>
              </a:rPr>
            </a:br>
            <a:r>
              <a:rPr lang="lv-LV" sz="2000" i="1" dirty="0" smtClean="0">
                <a:latin typeface="+mj-lt"/>
              </a:rPr>
              <a:t>modified algorithm</a:t>
            </a:r>
            <a:endParaRPr lang="lv-LV" sz="2000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5161212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Traditional Time Analysis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In textbooks algorithm analysis uses two criteria of the efficiency:</a:t>
            </a:r>
          </a:p>
          <a:p>
            <a:pPr lvl="1"/>
            <a:r>
              <a:rPr lang="lv-LV" dirty="0" smtClean="0"/>
              <a:t>Running time</a:t>
            </a:r>
          </a:p>
          <a:p>
            <a:pPr lvl="1"/>
            <a:r>
              <a:rPr lang="lv-LV" dirty="0" smtClean="0"/>
              <a:t>Used space/memory (usually RAM memory).</a:t>
            </a:r>
          </a:p>
          <a:p>
            <a:r>
              <a:rPr lang="lv-LV" dirty="0" smtClean="0"/>
              <a:t>Space can be taken by lots of recursive calls OR by creating large data structures on the heap. </a:t>
            </a:r>
          </a:p>
          <a:p>
            <a:r>
              <a:rPr lang="lv-LV" dirty="0" smtClean="0"/>
              <a:t>Time is analyzed more frequently than space. </a:t>
            </a:r>
            <a:endParaRPr lang="lv-LV" dirty="0"/>
          </a:p>
          <a:p>
            <a:r>
              <a:rPr lang="lv-LV" dirty="0" smtClean="0"/>
              <a:t>Time can sometimes be saved by wasting some extra space – algorithms may have tradeoffs.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40529431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What is Input Data Size?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2400" y="1676400"/>
                <a:ext cx="10160000" cy="4114800"/>
              </a:xfrm>
            </p:spPr>
            <p:txBody>
              <a:bodyPr/>
              <a:lstStyle/>
              <a:p>
                <a:r>
                  <a:rPr lang="lv-LV" dirty="0" smtClean="0"/>
                  <a:t>Ordering, searching, processing list items, matrix multiplication, manipulating trees and graphs – runtime depends on the data size.</a:t>
                </a:r>
              </a:p>
              <a:p>
                <a:r>
                  <a:rPr lang="en-US" dirty="0" smtClean="0"/>
                  <a:t>Spelling program input size:</a:t>
                </a:r>
                <a:endParaRPr lang="lv-LV" dirty="0" smtClean="0"/>
              </a:p>
              <a:p>
                <a:pPr lvl="1"/>
                <a:r>
                  <a:rPr lang="en-US" dirty="0" smtClean="0"/>
                  <a:t>One word?</a:t>
                </a:r>
              </a:p>
              <a:p>
                <a:pPr lvl="1"/>
                <a:r>
                  <a:rPr lang="lv-LV" dirty="0" smtClean="0"/>
                  <a:t>The verifiable text as a whole? </a:t>
                </a:r>
              </a:p>
              <a:p>
                <a:pPr lvl="1"/>
                <a:r>
                  <a:rPr lang="lv-LV" dirty="0" smtClean="0"/>
                  <a:t>The verifiable text anad also the spelling dictionary size?</a:t>
                </a:r>
              </a:p>
              <a:p>
                <a:r>
                  <a:rPr lang="en-US" dirty="0" smtClean="0"/>
                  <a:t>R</a:t>
                </a:r>
                <a:r>
                  <a:rPr lang="lv-LV" dirty="0" smtClean="0"/>
                  <a:t>easonable encodings only differ by a constant factor. For example, a </a:t>
                </a:r>
                <a:r>
                  <a:rPr lang="lv-LV" b="1" i="1" dirty="0" smtClean="0">
                    <a:solidFill>
                      <a:srgbClr val="0070C0"/>
                    </a:solidFill>
                  </a:rPr>
                  <a:t>binary</a:t>
                </a:r>
                <a:r>
                  <a:rPr lang="lv-LV" dirty="0" smtClean="0"/>
                  <a:t> number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lv-LV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lv-LV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lv-LV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func>
                    <m:r>
                      <a:rPr lang="lv-LV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lv-LV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3.32</m:t>
                    </m:r>
                  </m:oMath>
                </a14:m>
                <a:r>
                  <a:rPr lang="lv-LV" dirty="0" smtClean="0"/>
                  <a:t> times longer than same in </a:t>
                </a:r>
                <a:r>
                  <a:rPr lang="lv-LV" b="1" i="1" dirty="0" smtClean="0">
                    <a:solidFill>
                      <a:srgbClr val="0070C0"/>
                    </a:solidFill>
                  </a:rPr>
                  <a:t>decimal</a:t>
                </a:r>
                <a:r>
                  <a:rPr lang="lv-LV" dirty="0" smtClean="0"/>
                  <a:t>. </a:t>
                </a:r>
              </a:p>
              <a:p>
                <a:r>
                  <a:rPr lang="lv-LV" dirty="0" smtClean="0"/>
                  <a:t>For complexity classes like </a:t>
                </a:r>
                <a14:m>
                  <m:oMath xmlns:m="http://schemas.openxmlformats.org/officeDocument/2006/math">
                    <m:r>
                      <a:rPr lang="lv-LV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lv-LV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lv-LV" dirty="0" smtClean="0"/>
                  <a:t> constant factors often do not matter.</a:t>
                </a:r>
              </a:p>
              <a:p>
                <a:r>
                  <a:rPr lang="lv-LV" dirty="0" smtClean="0"/>
                  <a:t>There is significant difference between </a:t>
                </a:r>
                <a:r>
                  <a:rPr lang="lv-LV" b="1" i="1" dirty="0" smtClean="0">
                    <a:solidFill>
                      <a:srgbClr val="0070C0"/>
                    </a:solidFill>
                  </a:rPr>
                  <a:t>binary</a:t>
                </a:r>
                <a:r>
                  <a:rPr lang="lv-LV" dirty="0" smtClean="0"/>
                  <a:t> and </a:t>
                </a:r>
                <a:r>
                  <a:rPr lang="lv-LV" b="1" i="1" dirty="0" smtClean="0">
                    <a:solidFill>
                      <a:srgbClr val="0070C0"/>
                    </a:solidFill>
                  </a:rPr>
                  <a:t>unary</a:t>
                </a:r>
                <a:r>
                  <a:rPr lang="lv-LV" dirty="0" smtClean="0"/>
                  <a:t> numbers though.</a:t>
                </a:r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2400" y="1676400"/>
                <a:ext cx="10160000" cy="4114800"/>
              </a:xfrm>
              <a:blipFill>
                <a:blip r:embed="rId2"/>
                <a:stretch>
                  <a:fillRect l="-780" t="-1185" r="-780" b="-6963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10280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Time Units in Analysis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dirty="0" smtClean="0"/>
                  <a:t>Is it actual (clock) time or some relative units?</a:t>
                </a:r>
                <a:endParaRPr lang="lv-LV" dirty="0"/>
              </a:p>
              <a:p>
                <a:r>
                  <a:rPr lang="en-US" dirty="0" smtClean="0"/>
                  <a:t>Time has</a:t>
                </a:r>
                <a:r>
                  <a:rPr lang="lv-LV" dirty="0" smtClean="0"/>
                  <a:t> relative units </a:t>
                </a:r>
                <a:r>
                  <a:rPr lang="en-US" dirty="0" smtClean="0"/>
                  <a:t>(unless it is </a:t>
                </a:r>
                <a:r>
                  <a:rPr lang="lv-LV" dirty="0" smtClean="0"/>
                  <a:t>one type of hardware speed</a:t>
                </a:r>
                <a:r>
                  <a:rPr lang="en-US" dirty="0" smtClean="0"/>
                  <a:t>).</a:t>
                </a:r>
                <a:endParaRPr lang="lv-LV" dirty="0" smtClean="0"/>
              </a:p>
              <a:p>
                <a:r>
                  <a:rPr lang="lv-LV" dirty="0" smtClean="0"/>
                  <a:t>Time unit can be </a:t>
                </a:r>
                <a:r>
                  <a:rPr lang="en-US" dirty="0" smtClean="0"/>
                  <a:t>one line </a:t>
                </a:r>
                <a:r>
                  <a:rPr lang="lv-LV" dirty="0" smtClean="0"/>
                  <a:t>in the algorithm</a:t>
                </a:r>
                <a:r>
                  <a:rPr lang="en-US" dirty="0" smtClean="0"/>
                  <a:t> (if it does not decompose)</a:t>
                </a:r>
                <a:endParaRPr lang="lv-LV" dirty="0"/>
              </a:p>
              <a:p>
                <a:r>
                  <a:rPr lang="lv-LV" dirty="0" smtClean="0"/>
                  <a:t>Typically we count significant </a:t>
                </a:r>
                <a:r>
                  <a:rPr lang="lv-LV" b="1" i="1" dirty="0" smtClean="0">
                    <a:solidFill>
                      <a:srgbClr val="0070C0"/>
                    </a:solidFill>
                  </a:rPr>
                  <a:t>basic operations</a:t>
                </a:r>
                <a:r>
                  <a:rPr lang="lv-LV" dirty="0" smtClean="0"/>
                  <a:t>. </a:t>
                </a:r>
              </a:p>
              <a:p>
                <a:pPr marL="0" indent="0">
                  <a:buNone/>
                </a:pPr>
                <a:r>
                  <a:rPr lang="lv-LV" dirty="0" smtClean="0"/>
                  <a:t>The actual time for input of size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𝑜𝑝</m:t>
                          </m:r>
                        </m:sub>
                      </m:sSub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lv-LV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lv-LV" b="0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lv-LV" dirty="0" smtClean="0"/>
                  <a:t>where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lv-LV" dirty="0" smtClean="0"/>
                  <a:t> denotes the count of operations,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lv-LV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v-LV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lv-LV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𝑜𝑝</m:t>
                        </m:r>
                      </m:sub>
                    </m:sSub>
                  </m:oMath>
                </a14:m>
                <a:r>
                  <a:rPr lang="lv-LV" dirty="0" smtClean="0"/>
                  <a:t> is estimate for 1 operation.</a:t>
                </a:r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08736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What can be Counted?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lv-LV" dirty="0" smtClean="0"/>
              <a:t>Addition, subtraction</a:t>
            </a:r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 smtClean="0"/>
              <a:t>Multiplication, division</a:t>
            </a:r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 smtClean="0"/>
              <a:t>Floating point operations</a:t>
            </a:r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 smtClean="0"/>
              <a:t>Reading a variable</a:t>
            </a:r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 smtClean="0"/>
              <a:t>Updating a variable</a:t>
            </a:r>
            <a:endParaRPr lang="lv-LV" dirty="0"/>
          </a:p>
          <a:p>
            <a:pPr marL="514350" indent="-514350">
              <a:buFont typeface="+mj-lt"/>
              <a:buAutoNum type="arabicPeriod"/>
            </a:pPr>
            <a:r>
              <a:rPr lang="lv-LV" dirty="0" smtClean="0"/>
              <a:t>Comparison</a:t>
            </a:r>
            <a:endParaRPr lang="lv-LV" dirty="0"/>
          </a:p>
          <a:p>
            <a:pPr marL="0" indent="0">
              <a:buNone/>
            </a:pPr>
            <a:endParaRPr lang="lv-LV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Boolean </a:t>
            </a:r>
            <a:r>
              <a:rPr lang="lv-LV" dirty="0"/>
              <a:t>(AND, OR, </a:t>
            </a:r>
            <a:r>
              <a:rPr lang="lv-LV" dirty="0" smtClean="0"/>
              <a:t>NOT)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I/O operation</a:t>
            </a:r>
            <a:endParaRPr lang="lv-LV" dirty="0"/>
          </a:p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Memory allocation</a:t>
            </a:r>
            <a:endParaRPr lang="lv-LV" dirty="0"/>
          </a:p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Memory deallocation</a:t>
            </a:r>
            <a:endParaRPr lang="lv-LV" dirty="0"/>
          </a:p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Type casting</a:t>
            </a:r>
            <a:endParaRPr lang="lv-LV" dirty="0"/>
          </a:p>
          <a:p>
            <a:pPr marL="514350" indent="-514350">
              <a:buFont typeface="+mj-lt"/>
              <a:buAutoNum type="arabicPeriod" startAt="7"/>
            </a:pPr>
            <a:r>
              <a:rPr lang="lv-LV" dirty="0" smtClean="0"/>
              <a:t>(Recursive) function call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564413104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Dependence on the Choice of Data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lv-LV" dirty="0" smtClean="0"/>
                  <a:t>InsertSort algorithm takes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lv-LV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lv-LV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lv-LV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lv-LV" dirty="0" smtClean="0"/>
                  <a:t> - both worst and average case.</a:t>
                </a:r>
                <a:endParaRPr lang="lv-LV" dirty="0"/>
              </a:p>
              <a:p>
                <a:r>
                  <a:rPr lang="lv-LV" dirty="0" smtClean="0"/>
                  <a:t>It is quite efficient for sequences that are almost sorted.</a:t>
                </a:r>
                <a:endParaRPr lang="lv-LV" dirty="0"/>
              </a:p>
              <a:p>
                <a:r>
                  <a:rPr lang="lv-LV" dirty="0" smtClean="0"/>
                  <a:t>Not good for random inputs.</a:t>
                </a:r>
                <a:endParaRPr lang="lv-LV" dirty="0"/>
              </a:p>
              <a:p>
                <a:r>
                  <a:rPr lang="lv-LV" dirty="0" smtClean="0"/>
                  <a:t>Worst behavior, if the input list is in the reverse order.</a:t>
                </a:r>
                <a:endParaRPr lang="lv-LV" dirty="0"/>
              </a:p>
              <a:p>
                <a:pPr marL="0" indent="0">
                  <a:buNone/>
                </a:pPr>
                <a:r>
                  <a:rPr lang="lv-LV" dirty="0" smtClean="0"/>
                  <a:t>Traditional and practical QuickSort – it takes on average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lv-LV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lv-LV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lv-LV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lv-LV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lv-LV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lv-LV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lv-LV" dirty="0"/>
              </a:p>
              <a:p>
                <a:r>
                  <a:rPr lang="lv-LV" dirty="0" smtClean="0"/>
                  <a:t>It works best for random input.</a:t>
                </a:r>
              </a:p>
              <a:p>
                <a:r>
                  <a:rPr lang="lv-LV" dirty="0" smtClean="0"/>
                  <a:t>It has inefficient worst case (if array is sorted):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lv-LV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lv-LV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lv-LV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lv-LV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 t="-118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630107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What Inputs Measure Time Complexity?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lv-LV" dirty="0" smtClean="0"/>
                  <a:t>Measure the resource use as function from the input size. </a:t>
                </a:r>
              </a:p>
              <a:p>
                <a:r>
                  <a:rPr lang="lv-LV" dirty="0" smtClean="0"/>
                  <a:t>Measure the worst case time for all input data of size n (or shorter). </a:t>
                </a:r>
              </a:p>
              <a:p>
                <a:r>
                  <a:rPr lang="lv-LV" dirty="0" smtClean="0"/>
                  <a:t>Usually we get reasonably "smooth" functions for the worst-case time.</a:t>
                </a:r>
              </a:p>
              <a:p>
                <a:r>
                  <a:rPr lang="lv-LV" dirty="0" smtClean="0"/>
                  <a:t>When measuring time – disregard constants (and lower-order terms).</a:t>
                </a:r>
              </a:p>
              <a:p>
                <a:r>
                  <a:rPr lang="lv-LV" dirty="0" smtClean="0"/>
                  <a:t>Place the functions into complexity classes </a:t>
                </a:r>
                <a:r>
                  <a:rPr lang="lv-LV" dirty="0"/>
                  <a:t>(</a:t>
                </a:r>
                <a:r>
                  <a:rPr lang="lv-LV" dirty="0" smtClean="0"/>
                  <a:t>using the Big-O notation).</a:t>
                </a:r>
              </a:p>
              <a:p>
                <a:endParaRPr lang="lv-LV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lv-LV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lv-LV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lv-LV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lv-LV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lv-LV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lv-LV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lv-LV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lv-LV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lv-LV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lv-LV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lv-LV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lv-LV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lv-LV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lv-LV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lv-LV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lv-LV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lv-LV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lv-LV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lv-LV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lv-LV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lv-LV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lv-LV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lv-LV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lv-LV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func>
                            <m:funcPr>
                              <m:ctrlPr>
                                <a:rPr lang="lv-LV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lv-LV" b="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lv-LV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  <m:r>
                        <a:rPr lang="lv-LV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v-LV" dirty="0" smtClean="0"/>
              </a:p>
              <a:p>
                <a:pPr marL="0" indent="0">
                  <a:buNone/>
                </a:pPr>
                <a:r>
                  <a:rPr lang="lv-LV" dirty="0" smtClean="0"/>
                  <a:t>Logarithm bases are usually omitted, since logarithms differ by a constant factor.</a:t>
                </a:r>
              </a:p>
              <a:p>
                <a:pPr marL="0" indent="0">
                  <a:buNone/>
                </a:pPr>
                <a:r>
                  <a:rPr lang="lv-LV" dirty="0" smtClean="0"/>
                  <a:t>The notation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lv-LV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∙</m:t>
                        </m:r>
                        <m:func>
                          <m:funcPr>
                            <m:ctrlP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lv-LV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lv-LV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lv-LV" dirty="0" smtClean="0"/>
                  <a:t> is not meant to compute anything; it just denotes time complexity class.</a:t>
                </a:r>
              </a:p>
              <a:p>
                <a:endParaRPr lang="lv-LV" dirty="0"/>
              </a:p>
              <a:p>
                <a:pPr marL="0" indent="0">
                  <a:buNone/>
                </a:pPr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00" t="-1185" r="-60" b="-6815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03837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Worst-case and Best-case Analysis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lv-LV" dirty="0" smtClean="0"/>
              <a:t>Worst-case time analysis is the max number of steps/operations that may be needed for input data of the given size. </a:t>
            </a:r>
            <a:endParaRPr lang="lv-LV" dirty="0"/>
          </a:p>
          <a:p>
            <a:r>
              <a:rPr lang="lv-LV" dirty="0" smtClean="0"/>
              <a:t>Can investigate, how to avoid these situations (or switch to another algorithm, if they do). 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lv-LV" dirty="0" smtClean="0"/>
                  <a:t>Best-case time is the minimum number of steps needed for an input of the given size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lv-LV" dirty="0" smtClean="0"/>
                  <a:t>. </a:t>
                </a:r>
                <a:endParaRPr lang="lv-LV" dirty="0"/>
              </a:p>
              <a:p>
                <a:r>
                  <a:rPr lang="lv-LV" dirty="0" smtClean="0"/>
                  <a:t>Can we achieve that the best case happens nearly always?</a:t>
                </a:r>
                <a:endParaRPr lang="lv-LV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03" t="-1630" r="-3182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590403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Asymptotic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dirty="0" smtClean="0"/>
              <a:t>As we have seen, asymptotic bounds are used to determine the time and space efficiency of algorithms</a:t>
            </a:r>
          </a:p>
          <a:p>
            <a:pPr>
              <a:spcBef>
                <a:spcPts val="500"/>
              </a:spcBef>
            </a:pPr>
            <a:r>
              <a:rPr lang="en-US" dirty="0" smtClean="0"/>
              <a:t>Generally, we are interested in time complexity, which is based on assignments and comparisons in a program</a:t>
            </a:r>
          </a:p>
          <a:p>
            <a:pPr>
              <a:spcBef>
                <a:spcPts val="500"/>
              </a:spcBef>
            </a:pPr>
            <a:r>
              <a:rPr lang="en-US" dirty="0" smtClean="0"/>
              <a:t>We’ll focus on assignments for the time being</a:t>
            </a:r>
          </a:p>
          <a:p>
            <a:pPr>
              <a:spcBef>
                <a:spcPts val="500"/>
              </a:spcBef>
            </a:pPr>
            <a:r>
              <a:rPr lang="en-US" dirty="0" smtClean="0"/>
              <a:t>Consider a simple loop: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 smtClean="0"/>
              <a:t>	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for (i = sum = 0; i &lt; n; i++)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	sum = sum + a[i]</a:t>
            </a:r>
          </a:p>
          <a:p>
            <a:pPr>
              <a:spcBef>
                <a:spcPts val="500"/>
              </a:spcBef>
            </a:pPr>
            <a:r>
              <a:rPr lang="en-US" dirty="0"/>
              <a:t>T</a:t>
            </a:r>
            <a:r>
              <a:rPr lang="en-US" dirty="0" smtClean="0"/>
              <a:t>wo assignments are executed once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sum = 0 </a:t>
            </a:r>
            <a:r>
              <a:rPr lang="en-US" dirty="0" smtClean="0"/>
              <a:t>and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 = sum</a:t>
            </a:r>
            <a:r>
              <a:rPr lang="en-US" dirty="0" smtClean="0"/>
              <a:t>) during initialization</a:t>
            </a:r>
          </a:p>
          <a:p>
            <a:pPr>
              <a:spcBef>
                <a:spcPts val="500"/>
              </a:spcBef>
            </a:pPr>
            <a:r>
              <a:rPr lang="en-US" dirty="0" smtClean="0"/>
              <a:t>In the loop, </a:t>
            </a:r>
            <a:r>
              <a:rPr lang="en-US" dirty="0" smtClean="0"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sum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 sum + a[i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dirty="0" smtClean="0">
                <a:cs typeface="Courier New" pitchFamily="49" charset="0"/>
              </a:rPr>
              <a:t> is </a:t>
            </a:r>
            <a:r>
              <a:rPr lang="en-US" dirty="0">
                <a:cs typeface="Courier New" pitchFamily="49" charset="0"/>
              </a:rPr>
              <a:t>executed </a:t>
            </a:r>
            <a:r>
              <a:rPr lang="en-US" i="1" dirty="0">
                <a:cs typeface="Courier New" pitchFamily="49" charset="0"/>
              </a:rPr>
              <a:t>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smtClean="0">
                <a:cs typeface="Courier New" pitchFamily="49" charset="0"/>
              </a:rPr>
              <a:t>times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35652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Finding Asymptotic Complexity</a:t>
            </a:r>
            <a:br>
              <a:rPr lang="en-US" dirty="0" smtClean="0"/>
            </a:br>
            <a:r>
              <a:rPr lang="en-US" dirty="0" smtClean="0"/>
              <a:t>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addition,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dirty="0" smtClean="0">
                <a:cs typeface="Courier New" pitchFamily="49" charset="0"/>
              </a:rPr>
              <a:t> in the loop header is executed </a:t>
            </a:r>
            <a:r>
              <a:rPr lang="en-US" i="1" dirty="0" smtClean="0">
                <a:cs typeface="Courier New" pitchFamily="49" charset="0"/>
              </a:rPr>
              <a:t>n</a:t>
            </a:r>
            <a:r>
              <a:rPr lang="en-US" dirty="0" smtClean="0">
                <a:cs typeface="Courier New" pitchFamily="49" charset="0"/>
              </a:rPr>
              <a:t> times</a:t>
            </a:r>
          </a:p>
          <a:p>
            <a:r>
              <a:rPr lang="en-US" dirty="0" smtClean="0">
                <a:cs typeface="Courier New" pitchFamily="49" charset="0"/>
              </a:rPr>
              <a:t>So there are 2 + 2</a:t>
            </a:r>
            <a:r>
              <a:rPr lang="en-US" i="1" dirty="0" smtClean="0">
                <a:cs typeface="Courier New" pitchFamily="49" charset="0"/>
              </a:rPr>
              <a:t>n</a:t>
            </a:r>
            <a:r>
              <a:rPr lang="en-US" dirty="0" smtClean="0">
                <a:cs typeface="Courier New" pitchFamily="49" charset="0"/>
              </a:rPr>
              <a:t> assignments in this loop’s execution and it is </a:t>
            </a:r>
            <a:r>
              <a:rPr lang="en-US" i="1" dirty="0" smtClean="0">
                <a:cs typeface="Courier New" pitchFamily="49" charset="0"/>
              </a:rPr>
              <a:t>O</a:t>
            </a:r>
            <a:r>
              <a:rPr lang="en-US" dirty="0" smtClean="0">
                <a:cs typeface="Courier New" pitchFamily="49" charset="0"/>
              </a:rPr>
              <a:t>(</a:t>
            </a:r>
            <a:r>
              <a:rPr lang="en-US" i="1" dirty="0" smtClean="0">
                <a:cs typeface="Courier New" pitchFamily="49" charset="0"/>
              </a:rPr>
              <a:t>n</a:t>
            </a:r>
            <a:r>
              <a:rPr lang="en-US" dirty="0" smtClean="0">
                <a:cs typeface="Courier New" pitchFamily="49" charset="0"/>
              </a:rPr>
              <a:t>)</a:t>
            </a:r>
          </a:p>
          <a:p>
            <a:r>
              <a:rPr lang="en-US" dirty="0" smtClean="0">
                <a:cs typeface="Courier New" pitchFamily="49" charset="0"/>
              </a:rPr>
              <a:t>Typically, as loops are nested, the complexity grows by a factor of </a:t>
            </a:r>
            <a:r>
              <a:rPr lang="en-US" i="1" dirty="0" smtClean="0">
                <a:cs typeface="Courier New" pitchFamily="49" charset="0"/>
              </a:rPr>
              <a:t>n</a:t>
            </a:r>
            <a:r>
              <a:rPr lang="en-US" dirty="0" smtClean="0">
                <a:cs typeface="Courier New" pitchFamily="49" charset="0"/>
              </a:rPr>
              <a:t>, although this isn’t always the case</a:t>
            </a:r>
          </a:p>
          <a:p>
            <a:r>
              <a:rPr lang="en-US" dirty="0" smtClean="0">
                <a:cs typeface="Courier New" pitchFamily="49" charset="0"/>
              </a:rPr>
              <a:t>Consider</a:t>
            </a:r>
          </a:p>
          <a:p>
            <a:pPr marL="0" indent="0">
              <a:buNone/>
            </a:pPr>
            <a:r>
              <a:rPr lang="en-US" dirty="0">
                <a:cs typeface="Courier New" pitchFamily="49" charset="0"/>
              </a:rPr>
              <a:t>	</a:t>
            </a:r>
            <a:r>
              <a:rPr lang="nn-NO" sz="1900" dirty="0">
                <a:latin typeface="Courier New" pitchFamily="49" charset="0"/>
                <a:cs typeface="Courier New" pitchFamily="49" charset="0"/>
              </a:rPr>
              <a:t>for (i = 0; i &lt; n; i++) {</a:t>
            </a:r>
          </a:p>
          <a:p>
            <a:pPr marL="0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	   for (j = 1, sum = a[0]; j &lt;= i; j++)</a:t>
            </a:r>
          </a:p>
          <a:p>
            <a:pPr marL="0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	      sum += a[j];</a:t>
            </a:r>
          </a:p>
          <a:p>
            <a:pPr marL="0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	   cout &lt;&lt; ”sum for subarray 0 through “ &lt;&lt; i</a:t>
            </a:r>
          </a:p>
          <a:p>
            <a:pPr marL="0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              &lt;&lt;” is “&lt;&lt;sum&lt;&lt;end1;</a:t>
            </a:r>
          </a:p>
          <a:p>
            <a:pPr marL="0" indent="0">
              <a:buNone/>
            </a:pPr>
            <a:r>
              <a:rPr lang="en-US" sz="1900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194491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Finding Asymptotic Complexity</a:t>
            </a:r>
            <a:br>
              <a:rPr lang="en-US" dirty="0" smtClean="0"/>
            </a:br>
            <a:r>
              <a:rPr lang="en-US" dirty="0" smtClean="0"/>
              <a:t>(continued)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The outer loop initializes </a:t>
                </a:r>
                <a:r>
                  <a:rPr lang="en-US" dirty="0" smtClean="0">
                    <a:latin typeface="Courier New" pitchFamily="49" charset="0"/>
                    <a:cs typeface="Courier New" pitchFamily="49" charset="0"/>
                  </a:rPr>
                  <a:t>i</a:t>
                </a:r>
                <a:r>
                  <a:rPr lang="en-US" dirty="0" smtClean="0">
                    <a:cs typeface="Courier New" pitchFamily="49" charset="0"/>
                  </a:rPr>
                  <a:t>, then executes </a:t>
                </a:r>
                <a:r>
                  <a:rPr lang="en-US" i="1" dirty="0" smtClean="0">
                    <a:cs typeface="Courier New" pitchFamily="49" charset="0"/>
                  </a:rPr>
                  <a:t>n</a:t>
                </a:r>
                <a:r>
                  <a:rPr lang="en-US" dirty="0" smtClean="0">
                    <a:cs typeface="Courier New" pitchFamily="49" charset="0"/>
                  </a:rPr>
                  <a:t> times</a:t>
                </a:r>
              </a:p>
              <a:p>
                <a:pPr>
                  <a:tabLst>
                    <a:tab pos="6570663" algn="l"/>
                  </a:tabLst>
                </a:pPr>
                <a:r>
                  <a:rPr lang="en-US" dirty="0" smtClean="0">
                    <a:cs typeface="Courier New" pitchFamily="49" charset="0"/>
                  </a:rPr>
                  <a:t>During each pass through the loop, the variable </a:t>
                </a:r>
                <a:r>
                  <a:rPr lang="en-US" dirty="0" smtClean="0">
                    <a:latin typeface="Courier New" pitchFamily="49" charset="0"/>
                    <a:cs typeface="Courier New" pitchFamily="49" charset="0"/>
                  </a:rPr>
                  <a:t>i</a:t>
                </a:r>
                <a:r>
                  <a:rPr lang="en-US" dirty="0" smtClean="0">
                    <a:cs typeface="Courier New" pitchFamily="49" charset="0"/>
                  </a:rPr>
                  <a:t> is updated, and the inner loop and </a:t>
                </a:r>
                <a:r>
                  <a:rPr lang="en-US" dirty="0" smtClean="0">
                    <a:latin typeface="Courier New" pitchFamily="49" charset="0"/>
                    <a:cs typeface="Courier New" pitchFamily="49" charset="0"/>
                  </a:rPr>
                  <a:t>cout</a:t>
                </a:r>
                <a:r>
                  <a:rPr lang="en-US" dirty="0" smtClean="0">
                    <a:cs typeface="Courier New" pitchFamily="49" charset="0"/>
                  </a:rPr>
                  <a:t> statement are executed</a:t>
                </a:r>
              </a:p>
              <a:p>
                <a:pPr>
                  <a:tabLst>
                    <a:tab pos="6570663" algn="l"/>
                  </a:tabLst>
                </a:pPr>
                <a:r>
                  <a:rPr lang="en-US" dirty="0" smtClean="0">
                    <a:cs typeface="Courier New" pitchFamily="49" charset="0"/>
                  </a:rPr>
                  <a:t>The inner loop initializes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j</a:t>
                </a:r>
                <a:r>
                  <a:rPr lang="en-US" dirty="0" smtClean="0">
                    <a:cs typeface="Courier New" pitchFamily="49" charset="0"/>
                  </a:rPr>
                  <a:t> and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sum</a:t>
                </a:r>
                <a:r>
                  <a:rPr lang="en-US" dirty="0" smtClean="0">
                    <a:cs typeface="Courier New" pitchFamily="49" charset="0"/>
                  </a:rPr>
                  <a:t> each time, so the number of assignments so far is 1 + 3n</a:t>
                </a:r>
              </a:p>
              <a:p>
                <a:pPr>
                  <a:tabLst>
                    <a:tab pos="6570663" algn="l"/>
                  </a:tabLst>
                </a:pPr>
                <a:r>
                  <a:rPr lang="en-US" dirty="0">
                    <a:cs typeface="Courier New" pitchFamily="49" charset="0"/>
                  </a:rPr>
                  <a:t>T</a:t>
                </a:r>
                <a:r>
                  <a:rPr lang="en-US" dirty="0" smtClean="0">
                    <a:cs typeface="Courier New" pitchFamily="49" charset="0"/>
                  </a:rPr>
                  <a:t>he inner loop executes </a:t>
                </a:r>
                <a:r>
                  <a:rPr lang="en-US" i="1" dirty="0" smtClean="0">
                    <a:cs typeface="Courier New" pitchFamily="49" charset="0"/>
                  </a:rPr>
                  <a:t>i</a:t>
                </a:r>
                <a:r>
                  <a:rPr lang="en-US" dirty="0" smtClean="0">
                    <a:cs typeface="Courier New" pitchFamily="49" charset="0"/>
                  </a:rPr>
                  <a:t> times, where </a:t>
                </a:r>
                <a:r>
                  <a:rPr lang="en-US" i="1" dirty="0" smtClean="0">
                    <a:cs typeface="Courier New" pitchFamily="49" charset="0"/>
                  </a:rPr>
                  <a:t>i</a:t>
                </a:r>
                <a:r>
                  <a:rPr lang="en-US" dirty="0" smtClean="0">
                    <a:cs typeface="Courier New" pitchFamily="49" charset="0"/>
                  </a:rPr>
                  <a:t> ranges from 1 to </a:t>
                </a:r>
                <a:r>
                  <a:rPr lang="en-US" i="1" dirty="0" smtClean="0">
                    <a:cs typeface="Courier New" pitchFamily="49" charset="0"/>
                  </a:rPr>
                  <a:t>n</a:t>
                </a:r>
                <a:r>
                  <a:rPr lang="en-US" dirty="0" smtClean="0">
                    <a:cs typeface="Courier New" pitchFamily="49" charset="0"/>
                  </a:rPr>
                  <a:t> – 1, based on the outer loop (when </a:t>
                </a:r>
                <a:r>
                  <a:rPr lang="en-US" i="1" dirty="0" smtClean="0">
                    <a:cs typeface="Courier New" pitchFamily="49" charset="0"/>
                  </a:rPr>
                  <a:t>i</a:t>
                </a:r>
                <a:r>
                  <a:rPr lang="en-US" dirty="0" smtClean="0">
                    <a:cs typeface="Courier New" pitchFamily="49" charset="0"/>
                  </a:rPr>
                  <a:t> is 0, it doesn’t run)</a:t>
                </a:r>
              </a:p>
              <a:p>
                <a:pPr>
                  <a:tabLst>
                    <a:tab pos="6570663" algn="l"/>
                  </a:tabLst>
                </a:pPr>
                <a:r>
                  <a:rPr lang="en-US" dirty="0" smtClean="0">
                    <a:cs typeface="Courier New" pitchFamily="49" charset="0"/>
                  </a:rPr>
                  <a:t>Each time the inner loop executes, it increments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j</a:t>
                </a:r>
                <a:r>
                  <a:rPr lang="en-US" dirty="0" smtClean="0">
                    <a:cs typeface="Courier New" pitchFamily="49" charset="0"/>
                  </a:rPr>
                  <a:t>, and assigns a value to </a:t>
                </a:r>
                <a:r>
                  <a:rPr lang="en-US" dirty="0" smtClean="0">
                    <a:latin typeface="Courier New" pitchFamily="49" charset="0"/>
                    <a:cs typeface="Courier New" pitchFamily="49" charset="0"/>
                  </a:rPr>
                  <a:t>sum</a:t>
                </a:r>
              </a:p>
              <a:p>
                <a:pPr>
                  <a:tabLst>
                    <a:tab pos="6570663" algn="l"/>
                  </a:tabLst>
                </a:pPr>
                <a:r>
                  <a:rPr lang="en-US" dirty="0" smtClean="0">
                    <a:cs typeface="Courier New" pitchFamily="49" charset="0"/>
                  </a:rPr>
                  <a:t>So the inner loop executes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  <a:cs typeface="Courier New" pitchFamily="49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  <a:cs typeface="Courier New" pitchFamily="49" charset="0"/>
                          </a:rPr>
                          <m:t>𝑖</m:t>
                        </m:r>
                        <m:r>
                          <a:rPr lang="pt-BR" i="1" smtClean="0">
                            <a:latin typeface="Cambria Math"/>
                            <a:cs typeface="Courier New" pitchFamily="49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  <a:cs typeface="Courier New" pitchFamily="49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  <a:cs typeface="Courier New" pitchFamily="49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/>
                            <a:cs typeface="Courier New" pitchFamily="49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  <a:cs typeface="Courier New" pitchFamily="49" charset="0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dirty="0" smtClean="0">
                    <a:cs typeface="Courier New" pitchFamily="49" charset="0"/>
                  </a:rPr>
                  <a:t> = 2(1 + 2 + … + </a:t>
                </a:r>
                <a:r>
                  <a:rPr lang="en-US" i="1" dirty="0" smtClean="0">
                    <a:cs typeface="Courier New" pitchFamily="49" charset="0"/>
                  </a:rPr>
                  <a:t>n</a:t>
                </a:r>
                <a:r>
                  <a:rPr lang="en-US" dirty="0" smtClean="0">
                    <a:cs typeface="Courier New" pitchFamily="49" charset="0"/>
                  </a:rPr>
                  <a:t> – 1) = 2</a:t>
                </a:r>
                <a:r>
                  <a:rPr lang="en-US" i="1" dirty="0" smtClean="0">
                    <a:cs typeface="Courier New" pitchFamily="49" charset="0"/>
                  </a:rPr>
                  <a:t>n</a:t>
                </a:r>
                <a:r>
                  <a:rPr lang="en-US" dirty="0" smtClean="0">
                    <a:cs typeface="Courier New" pitchFamily="49" charset="0"/>
                  </a:rPr>
                  <a:t>(</a:t>
                </a:r>
                <a:r>
                  <a:rPr lang="en-US" i="1" dirty="0" smtClean="0">
                    <a:cs typeface="Courier New" pitchFamily="49" charset="0"/>
                  </a:rPr>
                  <a:t>n </a:t>
                </a:r>
                <a:r>
                  <a:rPr lang="en-US" dirty="0" smtClean="0">
                    <a:cs typeface="Courier New" pitchFamily="49" charset="0"/>
                  </a:rPr>
                  <a:t>– 1) assignments</a:t>
                </a:r>
                <a:endParaRPr lang="en-US" dirty="0"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0" t="-2222" r="-6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5729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Finding Asymptotic Complexity</a:t>
            </a:r>
            <a:br>
              <a:rPr lang="en-US" dirty="0" smtClean="0"/>
            </a:br>
            <a:r>
              <a:rPr lang="en-US" dirty="0" smtClean="0"/>
              <a:t>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total number of assignments is then 1 + 3</a:t>
            </a:r>
            <a:r>
              <a:rPr lang="en-US" i="1" dirty="0" smtClean="0"/>
              <a:t>n</a:t>
            </a:r>
            <a:r>
              <a:rPr lang="en-US" dirty="0" smtClean="0"/>
              <a:t> + 2</a:t>
            </a:r>
            <a:r>
              <a:rPr lang="en-US" i="1" dirty="0" smtClean="0"/>
              <a:t>n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 - 1), which is </a:t>
            </a:r>
            <a:r>
              <a:rPr lang="en-US" i="1" dirty="0" smtClean="0"/>
              <a:t>O</a:t>
            </a:r>
            <a:r>
              <a:rPr lang="en-US" dirty="0" smtClean="0"/>
              <a:t>(1) +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+ </a:t>
            </a:r>
            <a:r>
              <a:rPr lang="en-US" i="1" dirty="0" smtClean="0"/>
              <a:t>O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baseline="30000" dirty="0" smtClean="0"/>
              <a:t>2</a:t>
            </a:r>
            <a:r>
              <a:rPr lang="en-US" dirty="0" smtClean="0"/>
              <a:t>) =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 smtClean="0"/>
              <a:t>)</a:t>
            </a:r>
          </a:p>
          <a:p>
            <a:r>
              <a:rPr lang="en-US" dirty="0" smtClean="0"/>
              <a:t>As mentioned earlier, not all loops increase complexity, so care has to be taken to analyze the processing that takes place</a:t>
            </a:r>
          </a:p>
          <a:p>
            <a:r>
              <a:rPr lang="en-US" dirty="0" smtClean="0"/>
              <a:t>However, additional complexity can be involved if the number of iterations changes during execution</a:t>
            </a:r>
          </a:p>
          <a:p>
            <a:r>
              <a:rPr lang="en-US" dirty="0" smtClean="0"/>
              <a:t>This can be the case in some of the more powerful searching and sorting algorithms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69831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Best, Average, and Worst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want to truly get a handle on the complexity of more complicated algorithms, we need to distinguish three cases:</a:t>
            </a:r>
          </a:p>
          <a:p>
            <a:pPr lvl="1"/>
            <a:r>
              <a:rPr lang="en-US" b="1" i="1" dirty="0" smtClean="0"/>
              <a:t>Worst case</a:t>
            </a:r>
            <a:r>
              <a:rPr lang="en-US" b="1" dirty="0" smtClean="0"/>
              <a:t> </a:t>
            </a:r>
            <a:r>
              <a:rPr lang="en-US" dirty="0" smtClean="0"/>
              <a:t>– the algorithm takes the maximum number of steps</a:t>
            </a:r>
          </a:p>
          <a:p>
            <a:pPr lvl="1"/>
            <a:r>
              <a:rPr lang="en-US" b="1" i="1" dirty="0" smtClean="0"/>
              <a:t>Best case</a:t>
            </a:r>
            <a:r>
              <a:rPr lang="en-US" dirty="0" smtClean="0"/>
              <a:t> – the algorithm takes the fewest number of steps</a:t>
            </a:r>
          </a:p>
          <a:p>
            <a:pPr lvl="1"/>
            <a:r>
              <a:rPr lang="en-US" b="1" i="1" dirty="0" smtClean="0"/>
              <a:t>Average case</a:t>
            </a:r>
            <a:r>
              <a:rPr lang="en-US" dirty="0" smtClean="0"/>
              <a:t> – performance falls between the extremes</a:t>
            </a:r>
          </a:p>
          <a:p>
            <a:r>
              <a:rPr lang="en-US" dirty="0" smtClean="0"/>
              <a:t>For simple situations we can determine the average case by adding together the number of steps required for each input and dividing by the number of inputs</a:t>
            </a:r>
          </a:p>
          <a:p>
            <a:r>
              <a:rPr lang="en-US" dirty="0" smtClean="0"/>
              <a:t>However, this is based on each input occurring with equal probability, which isn’t always likely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239539-FAAE-47F3-A644-ECC48BA6469C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15098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Problem: Finding Maximum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Finding the maximum in a list of numbers.</a:t>
            </a:r>
            <a:endParaRPr lang="lv-LV" sz="2400" dirty="0"/>
          </a:p>
          <a:p>
            <a:pPr marL="0" indent="0">
              <a:buNone/>
            </a:pPr>
            <a:r>
              <a:rPr lang="lv-LV" sz="2400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MaxElement(A[0..n-1])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A[0]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= 1 </a:t>
            </a:r>
            <a:r>
              <a:rPr lang="lv-LV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n-1 </a:t>
            </a:r>
            <a:r>
              <a:rPr lang="lv-LV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A[i] &gt; maxval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maxval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a[i]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endParaRPr lang="lv-LV" sz="2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The number of comparisons: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−1∈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𝛩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v-LV" dirty="0"/>
              </a:p>
              <a:p>
                <a:pPr marL="0" indent="0">
                  <a:buNone/>
                </a:pPr>
                <a:endParaRPr lang="lv-LV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203" t="-163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417928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Analyzing non-recursive algorithms</a:t>
            </a:r>
            <a:endParaRPr lang="lv-LV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Select the parameter that determines the size of input data.</a:t>
            </a:r>
            <a:endParaRPr lang="lv-LV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Determine the </a:t>
            </a:r>
            <a:r>
              <a:rPr lang="en-US" b="1" i="1" dirty="0" smtClean="0">
                <a:solidFill>
                  <a:srgbClr val="0070C0"/>
                </a:solidFill>
              </a:rPr>
              <a:t>basic operations</a:t>
            </a:r>
            <a:r>
              <a:rPr lang="en-US" dirty="0" smtClean="0"/>
              <a:t> in the algorithm.</a:t>
            </a:r>
            <a:endParaRPr lang="lv-LV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Check, if the count of basic operations depends just on the size of input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Write a formula (typically, a sum) showing the number of basic operation. </a:t>
            </a:r>
            <a:endParaRPr lang="lv-LV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summation formulas to simplify the obtained sum. </a:t>
            </a:r>
            <a:endParaRPr lang="lv-LV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If possible, determine the asymptotic growth rate of this function.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350333233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Summation Formula</a:t>
            </a:r>
            <a:r>
              <a:rPr lang="lv-LV" dirty="0" smtClean="0"/>
              <a:t>s</a:t>
            </a:r>
            <a:endParaRPr lang="lv-LV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752601"/>
            <a:ext cx="65341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64527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Problem: Checking </a:t>
            </a:r>
            <a:r>
              <a:rPr lang="en-US" dirty="0" err="1" smtClean="0"/>
              <a:t>AllUnique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Check if an array contains one copy of each element:</a:t>
            </a:r>
            <a:endParaRPr lang="lv-LV" sz="2400" dirty="0"/>
          </a:p>
          <a:p>
            <a:pPr marL="0" indent="0">
              <a:buNone/>
            </a:pPr>
            <a:r>
              <a:rPr lang="en-US" sz="2400" b="1" u="sng" dirty="0" smtClean="0"/>
              <a:t>All</a:t>
            </a:r>
            <a:r>
              <a:rPr lang="lv-LV" sz="2400" b="1" u="sng" dirty="0" smtClean="0"/>
              <a:t>Unique (</a:t>
            </a:r>
            <a:r>
              <a:rPr lang="en-US" sz="2400" b="1" u="sng" dirty="0" err="1" smtClean="0"/>
              <a:t>int</a:t>
            </a:r>
            <a:r>
              <a:rPr lang="en-US" sz="2400" b="1" u="sng" dirty="0" smtClean="0"/>
              <a:t> </a:t>
            </a:r>
            <a:r>
              <a:rPr lang="lv-LV" sz="2400" b="1" u="sng" dirty="0" smtClean="0"/>
              <a:t>A[0</a:t>
            </a:r>
            <a:r>
              <a:rPr lang="lv-LV" sz="2400" b="1" u="sng" dirty="0"/>
              <a:t>..n-1</a:t>
            </a:r>
            <a:r>
              <a:rPr lang="lv-LV" sz="2400" b="1" u="sng" dirty="0" smtClean="0"/>
              <a:t>])</a:t>
            </a:r>
            <a:r>
              <a:rPr lang="en-US" sz="2400" b="1" u="sng" dirty="0" smtClean="0"/>
              <a:t>:bool</a:t>
            </a:r>
            <a:endParaRPr lang="lv-LV" sz="2400" b="1" u="sng" dirty="0"/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lv-LV" sz="2400" b="1" dirty="0" smtClean="0"/>
              <a:t>for</a:t>
            </a:r>
            <a:r>
              <a:rPr lang="lv-LV" sz="2400" dirty="0" smtClean="0"/>
              <a:t> </a:t>
            </a:r>
            <a:r>
              <a:rPr lang="lv-LV" sz="2400" dirty="0"/>
              <a:t>i=0 </a:t>
            </a:r>
            <a:r>
              <a:rPr lang="lv-LV" sz="2400" b="1" dirty="0"/>
              <a:t>to</a:t>
            </a:r>
            <a:r>
              <a:rPr lang="lv-LV" sz="2400" dirty="0"/>
              <a:t> n–2 </a:t>
            </a:r>
            <a:r>
              <a:rPr lang="lv-LV" sz="2400" b="1" dirty="0" smtClean="0"/>
              <a:t>do</a:t>
            </a:r>
            <a:endParaRPr lang="lv-LV" sz="2400" b="1" dirty="0"/>
          </a:p>
          <a:p>
            <a:pPr marL="0" indent="0">
              <a:buNone/>
            </a:pPr>
            <a:r>
              <a:rPr lang="en-US" sz="2400" dirty="0" smtClean="0"/>
              <a:t>        </a:t>
            </a:r>
            <a:r>
              <a:rPr lang="lv-LV" sz="2400" b="1" dirty="0" smtClean="0"/>
              <a:t>for</a:t>
            </a:r>
            <a:r>
              <a:rPr lang="lv-LV" sz="2400" dirty="0" smtClean="0"/>
              <a:t> </a:t>
            </a:r>
            <a:r>
              <a:rPr lang="lv-LV" sz="2400" dirty="0"/>
              <a:t>j=i+1 </a:t>
            </a:r>
            <a:r>
              <a:rPr lang="lv-LV" sz="2400" b="1" dirty="0"/>
              <a:t>to</a:t>
            </a:r>
            <a:r>
              <a:rPr lang="lv-LV" sz="2400" dirty="0"/>
              <a:t> n-1 </a:t>
            </a:r>
            <a:r>
              <a:rPr lang="lv-LV" sz="2400" b="1" dirty="0"/>
              <a:t>do</a:t>
            </a:r>
          </a:p>
          <a:p>
            <a:pPr marL="0" indent="0">
              <a:buNone/>
            </a:pPr>
            <a:r>
              <a:rPr lang="en-US" sz="2400" dirty="0" smtClean="0"/>
              <a:t>            </a:t>
            </a:r>
            <a:r>
              <a:rPr lang="lv-LV" sz="2400" b="1" dirty="0" smtClean="0"/>
              <a:t>if</a:t>
            </a:r>
            <a:r>
              <a:rPr lang="lv-LV" sz="2400" dirty="0" smtClean="0"/>
              <a:t> </a:t>
            </a:r>
            <a:r>
              <a:rPr lang="lv-LV" sz="2400" dirty="0"/>
              <a:t>A[i] = A[j]</a:t>
            </a:r>
          </a:p>
          <a:p>
            <a:pPr marL="0" indent="0">
              <a:buNone/>
            </a:pPr>
            <a:r>
              <a:rPr lang="en-US" sz="2400" dirty="0" smtClean="0"/>
              <a:t>                </a:t>
            </a:r>
            <a:r>
              <a:rPr lang="lv-LV" sz="2400" b="1" dirty="0" smtClean="0"/>
              <a:t>return</a:t>
            </a:r>
            <a:r>
              <a:rPr lang="lv-LV" sz="2400" dirty="0" smtClean="0"/>
              <a:t> </a:t>
            </a:r>
            <a:r>
              <a:rPr lang="lv-LV" sz="2400" dirty="0"/>
              <a:t>false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lv-LV" sz="2400" b="1" dirty="0" smtClean="0"/>
              <a:t>return</a:t>
            </a:r>
            <a:r>
              <a:rPr lang="lv-LV" sz="2400" dirty="0" smtClean="0"/>
              <a:t> true</a:t>
            </a:r>
            <a:endParaRPr lang="lv-LV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Input parameter is the array size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The basic operation is comparison inside </a:t>
                </a:r>
                <a:r>
                  <a:rPr lang="en-US" b="1" dirty="0" smtClean="0"/>
                  <a:t>if</a:t>
                </a:r>
                <a:r>
                  <a:rPr lang="en-US" dirty="0" smtClean="0"/>
                  <a:t> statement.</a:t>
                </a:r>
                <a:endParaRPr lang="lv-LV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03" t="-1630" r="-183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859109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analysis of the Problem</a:t>
            </a:r>
            <a:endParaRPr lang="lv-LV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76400"/>
            <a:ext cx="8017213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9296400" y="39624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296400" y="37338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9296400" y="35052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9296400" y="32766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296400" y="30480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525000" y="37338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9525000" y="35052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9525000" y="32766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525000" y="30480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9753600" y="35052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9753600" y="32766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9753600" y="30480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9982200" y="32766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9982200" y="30480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0210800" y="3048000"/>
            <a:ext cx="228600" cy="228600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9296400" y="3048000"/>
            <a:ext cx="1371600" cy="13716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v-LV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9525000" y="4648200"/>
            <a:ext cx="1066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9067800" y="3162300"/>
            <a:ext cx="0" cy="10287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955960" y="4583823"/>
                <a:ext cx="3691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960" y="4583823"/>
                <a:ext cx="36913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763000" y="3429000"/>
                <a:ext cx="377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3429000"/>
                <a:ext cx="377476" cy="461665"/>
              </a:xfrm>
              <a:prstGeom prst="rect">
                <a:avLst/>
              </a:prstGeom>
              <a:blipFill>
                <a:blip r:embed="rId4"/>
                <a:stretch>
                  <a:fillRect l="-3279" b="-18667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0639097" y="3371983"/>
                <a:ext cx="10132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9097" y="3371983"/>
                <a:ext cx="101329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601601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Factorial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Compute factorial n!</a:t>
            </a:r>
          </a:p>
          <a:p>
            <a:pPr marL="0" indent="0">
              <a:buNone/>
            </a:pPr>
            <a:r>
              <a:rPr lang="lv-LV" sz="2400" b="1" u="sng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b="1" u="sng" dirty="0" err="1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actorial</a:t>
            </a:r>
            <a:r>
              <a:rPr lang="lv-LV" sz="2400" b="1" u="sng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</a:t>
            </a:r>
            <a:r>
              <a:rPr lang="lv-LV" sz="2400" b="1" u="sng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b="1" u="sng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b="1" u="sng" dirty="0" smtClean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 = 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400" dirty="0" smtClean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endParaRPr lang="lv-LV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lv-LV" sz="24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dirty="0" err="1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actorial</a:t>
            </a:r>
            <a:r>
              <a:rPr lang="lv-LV" sz="24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(n-1</a:t>
            </a:r>
            <a:r>
              <a:rPr lang="lv-LV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)*n</a:t>
            </a:r>
          </a:p>
          <a:p>
            <a:pPr marL="0" indent="0">
              <a:buNone/>
            </a:pPr>
            <a:endParaRPr lang="lv-LV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Assume that the problem size is the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itself.</a:t>
                </a:r>
                <a:endParaRPr lang="lv-LV" dirty="0"/>
              </a:p>
              <a:p>
                <a:r>
                  <a:rPr lang="en-US" dirty="0" smtClean="0"/>
                  <a:t>The basic operation to be counted is multiplication. 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−1) + 1</m:t>
                    </m:r>
                  </m:oMath>
                </a14:m>
                <a:r>
                  <a:rPr lang="lv-LV" dirty="0"/>
                  <a:t>, </a:t>
                </a:r>
                <a:r>
                  <a:rPr lang="en-US" dirty="0" smtClean="0"/>
                  <a:t>if</a:t>
                </a:r>
                <a:r>
                  <a:rPr lang="lv-LV" dirty="0" smtClean="0"/>
                  <a:t> </a:t>
                </a:r>
                <a14:m>
                  <m:oMath xmlns:m="http://schemas.openxmlformats.org/officeDocument/2006/math">
                    <m:r>
                      <a:rPr lang="lv-LV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lv-LV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</a:t>
                </a:r>
                <a:endParaRPr lang="en-US" dirty="0" smtClean="0"/>
              </a:p>
              <a:p>
                <a:r>
                  <a:rPr lang="en-US" dirty="0" smtClean="0"/>
                  <a:t>Moreover, </a:t>
                </a:r>
                <a14:m>
                  <m:oMath xmlns:m="http://schemas.openxmlformats.org/officeDocument/2006/math">
                    <m:r>
                      <a:rPr lang="lv-LV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lv-LV" i="1" dirty="0">
                        <a:latin typeface="Cambria Math" panose="02040503050406030204" pitchFamily="18" charset="0"/>
                      </a:rPr>
                      <m:t>(0) =1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r>
                  <a:rPr lang="en-US" dirty="0" smtClean="0"/>
                  <a:t>Not realistic, if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is large.</a:t>
                </a:r>
                <a:endParaRPr lang="en-US" dirty="0"/>
              </a:p>
              <a:p>
                <a:endParaRPr lang="lv-LV" dirty="0"/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203" t="-1630" b="-9926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729104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Multiplications in Factorial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−1)+1=[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−2)+1]+1=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−2)+2=[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−3)+1]+2=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−3)+3.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 smtClean="0"/>
                  <a:t>(Here we use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−2)+1 </m:t>
                    </m:r>
                  </m:oMath>
                </a14:m>
                <a:r>
                  <a:rPr lang="pt-BR" dirty="0" smtClean="0"/>
                  <a:t>and 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−2)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−3)+1</m:t>
                    </m:r>
                  </m:oMath>
                </a14:m>
                <a:r>
                  <a:rPr lang="pt-BR" dirty="0" smtClean="0"/>
                  <a:t>.)</a:t>
                </a:r>
              </a:p>
              <a:p>
                <a:pPr marL="0" indent="0">
                  <a:buNone/>
                </a:pPr>
                <a:endParaRPr lang="pt-BR" dirty="0" smtClean="0"/>
              </a:p>
              <a:p>
                <a:pPr marL="0" indent="0">
                  <a:buNone/>
                </a:pPr>
                <a:r>
                  <a:rPr lang="pt-BR" dirty="0" smtClean="0"/>
                  <a:t>Therefore,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, </a:t>
                </a:r>
                <a:r>
                  <a:rPr lang="pt-BR" dirty="0" smtClean="0"/>
                  <a:t>what could be proven by induction. 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−1)+1 = … 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… =</m:t>
                      </m:r>
                    </m:oMath>
                  </m:oMathPara>
                </a14:m>
                <a:endParaRPr lang="pt-B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(0) +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0 +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lv-LV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131909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Analyzing Recursive Algorithm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Determine the parameter for the input data size.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Determine the basic operation of the algorithm.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Check, if the number of basic operations depends only on the input data size.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Write the recurrent equalities to express the count of basic operations.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Try to solve the recurrence – express it with explicit formula.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If solving is difficult, we can use the theorem explained before.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590528821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Doing </a:t>
            </a:r>
            <a:r>
              <a:rPr lang="en-US" dirty="0" err="1" smtClean="0"/>
              <a:t>Asymptotics</a:t>
            </a:r>
            <a:r>
              <a:rPr lang="en-US" dirty="0" smtClean="0"/>
              <a:t> "Inside-Out" – 1 </a:t>
            </a:r>
            <a:endParaRPr lang="lv-LV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924800" y="1752600"/>
                <a:ext cx="3657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Find </a:t>
                </a:r>
                <a:r>
                  <a:rPr lang="en-US" sz="2000" dirty="0" smtClean="0"/>
                  <a:t>the time complexity in terms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(</a:t>
                </a:r>
                <a:r>
                  <a:rPr lang="en-US" sz="2000" b="1" dirty="0" smtClean="0"/>
                  <a:t>Note: </a:t>
                </a:r>
                <a:r>
                  <a:rPr lang="en-US" sz="2000" i="1" dirty="0" smtClean="0"/>
                  <a:t>The </a:t>
                </a:r>
                <a:r>
                  <a:rPr lang="en-US" sz="2000" i="1" dirty="0" smtClean="0"/>
                  <a:t>notation for the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 smtClean="0"/>
                  <a:t> should be as small (and short) as possible</a:t>
                </a:r>
                <a:r>
                  <a:rPr lang="en-US" sz="2000" i="1" dirty="0" smtClean="0"/>
                  <a:t>.</a:t>
                </a:r>
                <a:r>
                  <a:rPr lang="en-US" sz="2000" dirty="0" smtClean="0"/>
                  <a:t>)</a:t>
                </a:r>
                <a:endParaRPr lang="lv-LV" sz="2000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924800" y="1752600"/>
                <a:ext cx="3657600" cy="4114800"/>
              </a:xfrm>
              <a:blipFill>
                <a:blip r:embed="rId3"/>
                <a:stretch>
                  <a:fillRect l="-1667" t="-889" r="-2500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124" y="2147887"/>
            <a:ext cx="64293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16420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</a:t>
            </a:r>
            <a:r>
              <a:rPr lang="en-US" dirty="0" err="1"/>
              <a:t>Asymptotics</a:t>
            </a:r>
            <a:r>
              <a:rPr lang="en-US" dirty="0"/>
              <a:t> "Inside-Out" – </a:t>
            </a:r>
            <a:r>
              <a:rPr lang="en-US" dirty="0" smtClean="0"/>
              <a:t>2 </a:t>
            </a:r>
            <a:endParaRPr lang="lv-LV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7391400" y="1752600"/>
                <a:ext cx="4191000" cy="4114800"/>
              </a:xfrm>
            </p:spPr>
            <p:txBody>
              <a:bodyPr/>
              <a:lstStyle/>
              <a:p>
                <a:r>
                  <a:rPr lang="en-US" dirty="0" smtClean="0"/>
                  <a:t>If "items" have length n, then the two nested loops have time complexity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Summation has time complexity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 smtClean="0"/>
                  <a:t>The total time is </a:t>
                </a:r>
                <a:r>
                  <a:rPr lang="en-US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i.e.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  <a:br>
                  <a:rPr lang="en-US" dirty="0" smtClean="0"/>
                </a:b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i="1" dirty="0" smtClean="0">
                    <a:solidFill>
                      <a:srgbClr val="0033CC"/>
                    </a:solidFill>
                  </a:rPr>
                  <a:t>Why can you drop this "non-dominant" term?</a:t>
                </a:r>
                <a:endParaRPr lang="lv-LV" i="1" dirty="0">
                  <a:solidFill>
                    <a:srgbClr val="0033CC"/>
                  </a:solidFill>
                </a:endParaRPr>
              </a:p>
              <a:p>
                <a:endParaRPr lang="lv-LV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391400" y="1752600"/>
                <a:ext cx="4191000" cy="4114800"/>
              </a:xfrm>
              <a:blipFill>
                <a:blip r:embed="rId3"/>
                <a:stretch>
                  <a:fillRect l="-2620" t="-1630" r="-3785" b="-24444"/>
                </a:stretch>
              </a:blipFill>
            </p:spPr>
            <p:txBody>
              <a:bodyPr/>
              <a:lstStyle/>
              <a:p>
                <a:r>
                  <a:rPr lang="lv-LV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55228"/>
            <a:ext cx="642937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5345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Designs\Notebook.pot</Template>
  <TotalTime>4151</TotalTime>
  <Words>2921</Words>
  <Application>Microsoft Office PowerPoint</Application>
  <PresentationFormat>Widescreen</PresentationFormat>
  <Paragraphs>480</Paragraphs>
  <Slides>60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Cambria Math</vt:lpstr>
      <vt:lpstr>Courier New</vt:lpstr>
      <vt:lpstr>Times New Roman</vt:lpstr>
      <vt:lpstr>Notebook</vt:lpstr>
      <vt:lpstr>Week01 Time Complexity of Algorithms</vt:lpstr>
      <vt:lpstr>Objectives</vt:lpstr>
      <vt:lpstr>Computational and Asymptotic Complexity</vt:lpstr>
      <vt:lpstr>Computational and Asymptotic Complexity (continued)</vt:lpstr>
      <vt:lpstr>Computational and Asymptotic Complexity (continued)</vt:lpstr>
      <vt:lpstr>Peak Finding Problem</vt:lpstr>
      <vt:lpstr>Write Pseudocode to Do Linear Search</vt:lpstr>
      <vt:lpstr>More Efficient algorithm to find Peaks</vt:lpstr>
      <vt:lpstr>Big-O Notation</vt:lpstr>
      <vt:lpstr>Big-O: Examples</vt:lpstr>
      <vt:lpstr>Big-O Notation</vt:lpstr>
      <vt:lpstr>Big-O Notation</vt:lpstr>
      <vt:lpstr>Example: Check by Definition</vt:lpstr>
      <vt:lpstr>Example: Check by Definition</vt:lpstr>
      <vt:lpstr>Properties of Big-O Notation</vt:lpstr>
      <vt:lpstr>Big-Ω (Big-Omega) Notation</vt:lpstr>
      <vt:lpstr>Big-Ω: Examples</vt:lpstr>
      <vt:lpstr>Ω and Θ Notations (continued)</vt:lpstr>
      <vt:lpstr>Big-Θ (Big-Theta) Notation</vt:lpstr>
      <vt:lpstr>Big-Θ: Examples</vt:lpstr>
      <vt:lpstr>Examples of Complexities</vt:lpstr>
      <vt:lpstr>Examples of Complexities (continued)</vt:lpstr>
      <vt:lpstr>Some simple recurrences</vt:lpstr>
      <vt:lpstr>Cost Models</vt:lpstr>
      <vt:lpstr>Worst-case input as "smoothing"</vt:lpstr>
      <vt:lpstr>Example 1: Recurrence</vt:lpstr>
      <vt:lpstr>Example 2: Recurrence</vt:lpstr>
      <vt:lpstr>Master Theorem: General Recurrence</vt:lpstr>
      <vt:lpstr>Notation in Master's Theorem</vt:lpstr>
      <vt:lpstr>Time Analysis is about Growth Order</vt:lpstr>
      <vt:lpstr>Why Big-O Notation is Often Sloppy?</vt:lpstr>
      <vt:lpstr>Waiting Times and Asymptotics</vt:lpstr>
      <vt:lpstr>Various Exponent Functions</vt:lpstr>
      <vt:lpstr>Various Exponent Functions: Solution</vt:lpstr>
      <vt:lpstr>Comparing Big-O Sets</vt:lpstr>
      <vt:lpstr>Comparing Big-O Sets: Solution</vt:lpstr>
      <vt:lpstr>Doubling Input Length</vt:lpstr>
      <vt:lpstr>Decimal vs. Binary Algorithms</vt:lpstr>
      <vt:lpstr>Traditional Time Analysis</vt:lpstr>
      <vt:lpstr>What is Input Data Size?</vt:lpstr>
      <vt:lpstr>Time Units in Analysis</vt:lpstr>
      <vt:lpstr>What can be Counted?</vt:lpstr>
      <vt:lpstr>Dependence on the Choice of Data</vt:lpstr>
      <vt:lpstr>What Inputs Measure Time Complexity?</vt:lpstr>
      <vt:lpstr>Worst-case and Best-case Analysis</vt:lpstr>
      <vt:lpstr>Finding Asymptotic Complexity</vt:lpstr>
      <vt:lpstr>Finding Asymptotic Complexity (continued)</vt:lpstr>
      <vt:lpstr>Finding Asymptotic Complexity (continued)</vt:lpstr>
      <vt:lpstr>Finding Asymptotic Complexity (continued)</vt:lpstr>
      <vt:lpstr>Best, Average, and Worst Cases</vt:lpstr>
      <vt:lpstr>Problem: Finding Maximum</vt:lpstr>
      <vt:lpstr>Analyzing non-recursive algorithms</vt:lpstr>
      <vt:lpstr>Summation Formulas</vt:lpstr>
      <vt:lpstr>Problem: Checking AllUnique</vt:lpstr>
      <vt:lpstr>The analysis of the Problem</vt:lpstr>
      <vt:lpstr>Example: Factorial</vt:lpstr>
      <vt:lpstr>Multiplications in Factorial</vt:lpstr>
      <vt:lpstr>Analyzing Recursive Algorithm</vt:lpstr>
      <vt:lpstr>Doing Asymptotics "Inside-Out" – 1 </vt:lpstr>
      <vt:lpstr>Doing Asymptotics "Inside-Out" – 2 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Algoritmu testēšana un atkļūdošana mācību programmēšanas uzdevumiem</dc:title>
  <dc:creator>kalvis.apsitis@gmail.com</dc:creator>
  <cp:lastModifiedBy>Kalvis Apsītis</cp:lastModifiedBy>
  <cp:revision>212</cp:revision>
  <cp:lastPrinted>1601-01-01T00:00:00Z</cp:lastPrinted>
  <dcterms:created xsi:type="dcterms:W3CDTF">1601-01-01T00:00:00Z</dcterms:created>
  <dcterms:modified xsi:type="dcterms:W3CDTF">2022-02-09T00:51:35Z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